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44245de9d54052" /><Relationship Type="http://schemas.openxmlformats.org/officeDocument/2006/relationships/extended-properties" Target="/docProps/app.xml" Id="R0e5cb0944f9d4679" /><Relationship Type="http://schemas.openxmlformats.org/officeDocument/2006/relationships/officeDocument" Target="/ppt/presentation.xml" Id="Rd58f56814ac142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b03a230b44461a"/>
  </p:sldMasterIdLst>
  <p:notesMasterIdLst>
    <p:notesMasterId xmlns:r="http://schemas.openxmlformats.org/officeDocument/2006/relationships" r:id="Rd3d8acc992694add"/>
  </p:notesMasterIdLst>
  <p:sldIdLst>
    <p:sldId xmlns:r="http://schemas.openxmlformats.org/officeDocument/2006/relationships" id="256" r:id="Rc909ac2921cd40ca"/>
    <p:sldId xmlns:r="http://schemas.openxmlformats.org/officeDocument/2006/relationships" id="257" r:id="R62a9e455806442cb"/>
    <p:sldId xmlns:r="http://schemas.openxmlformats.org/officeDocument/2006/relationships" id="258" r:id="R3c016ca5520546bf"/>
    <p:sldId xmlns:r="http://schemas.openxmlformats.org/officeDocument/2006/relationships" id="259" r:id="R37796865c33b46ba"/>
    <p:sldId xmlns:r="http://schemas.openxmlformats.org/officeDocument/2006/relationships" id="260" r:id="R1db21712147e414b"/>
    <p:sldId xmlns:r="http://schemas.openxmlformats.org/officeDocument/2006/relationships" id="261" r:id="R382590b181f747c9"/>
    <p:sldId xmlns:r="http://schemas.openxmlformats.org/officeDocument/2006/relationships" id="262" r:id="R7aa5ec433e41449f"/>
    <p:sldId xmlns:r="http://schemas.openxmlformats.org/officeDocument/2006/relationships" id="263" r:id="Rd984d748b5fa4e01"/>
    <p:sldId xmlns:r="http://schemas.openxmlformats.org/officeDocument/2006/relationships" id="264" r:id="Rdba01deebef24cb3"/>
    <p:sldId xmlns:r="http://schemas.openxmlformats.org/officeDocument/2006/relationships" id="265" r:id="Re2e1a4ea9820497f"/>
    <p:sldId xmlns:r="http://schemas.openxmlformats.org/officeDocument/2006/relationships" id="266" r:id="R386f0e7e48914d40"/>
    <p:sldId xmlns:r="http://schemas.openxmlformats.org/officeDocument/2006/relationships" id="267" r:id="R04eba674b7324580"/>
    <p:sldId xmlns:r="http://schemas.openxmlformats.org/officeDocument/2006/relationships" id="268" r:id="R5d06d0c2c9064428"/>
    <p:sldId xmlns:r="http://schemas.openxmlformats.org/officeDocument/2006/relationships" id="269" r:id="R467c7f65e0af4220"/>
    <p:sldId xmlns:r="http://schemas.openxmlformats.org/officeDocument/2006/relationships" id="270" r:id="Rca229396df814c8c"/>
    <p:sldId xmlns:r="http://schemas.openxmlformats.org/officeDocument/2006/relationships" id="271" r:id="R9e5b93b5e4f34bbe"/>
    <p:sldId xmlns:r="http://schemas.openxmlformats.org/officeDocument/2006/relationships" id="272" r:id="Re75afd69f48f4302"/>
    <p:sldId xmlns:r="http://schemas.openxmlformats.org/officeDocument/2006/relationships" id="273" r:id="R29610b005a0c4bc6"/>
    <p:sldId xmlns:r="http://schemas.openxmlformats.org/officeDocument/2006/relationships" id="274" r:id="R8b810050dc1d4440"/>
    <p:sldId xmlns:r="http://schemas.openxmlformats.org/officeDocument/2006/relationships" id="275" r:id="R49a2cdb9502c4c0f"/>
    <p:sldId xmlns:r="http://schemas.openxmlformats.org/officeDocument/2006/relationships" id="276" r:id="Ra91294da909e4a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6626d0e3154f35" /><Relationship Type="http://schemas.openxmlformats.org/officeDocument/2006/relationships/slideMaster" Target="/ppt/slideMasters/slideMaster1.xml" Id="R36b03a230b44461a" /><Relationship Type="http://schemas.openxmlformats.org/officeDocument/2006/relationships/notesMaster" Target="/ppt/notesMasters/notesMaster1.xml" Id="Rd3d8acc992694add" /><Relationship Type="http://schemas.openxmlformats.org/officeDocument/2006/relationships/presProps" Target="/ppt/presProps.xml" Id="R2a368863be7f48f2" /><Relationship Type="http://schemas.openxmlformats.org/officeDocument/2006/relationships/tableStyles" Target="/ppt/tableStyles.xml" Id="R83e36e00cdc943ee" /><Relationship Type="http://schemas.openxmlformats.org/officeDocument/2006/relationships/slide" Target="/ppt/slides/slide1.xml" Id="Rc909ac2921cd40ca" /><Relationship Type="http://schemas.openxmlformats.org/officeDocument/2006/relationships/slide" Target="/ppt/slides/slide2.xml" Id="R62a9e455806442cb" /><Relationship Type="http://schemas.openxmlformats.org/officeDocument/2006/relationships/slide" Target="/ppt/slides/slide3.xml" Id="R3c016ca5520546bf" /><Relationship Type="http://schemas.openxmlformats.org/officeDocument/2006/relationships/slide" Target="/ppt/slides/slide4.xml" Id="R37796865c33b46ba" /><Relationship Type="http://schemas.openxmlformats.org/officeDocument/2006/relationships/slide" Target="/ppt/slides/slide5.xml" Id="R1db21712147e414b" /><Relationship Type="http://schemas.openxmlformats.org/officeDocument/2006/relationships/slide" Target="/ppt/slides/slide6.xml" Id="R382590b181f747c9" /><Relationship Type="http://schemas.openxmlformats.org/officeDocument/2006/relationships/slide" Target="/ppt/slides/slide7.xml" Id="R7aa5ec433e41449f" /><Relationship Type="http://schemas.openxmlformats.org/officeDocument/2006/relationships/slide" Target="/ppt/slides/slide8.xml" Id="Rd984d748b5fa4e01" /><Relationship Type="http://schemas.openxmlformats.org/officeDocument/2006/relationships/slide" Target="/ppt/slides/slide9.xml" Id="Rdba01deebef24cb3" /><Relationship Type="http://schemas.openxmlformats.org/officeDocument/2006/relationships/slide" Target="/ppt/slides/slide10.xml" Id="Re2e1a4ea9820497f" /><Relationship Type="http://schemas.openxmlformats.org/officeDocument/2006/relationships/slide" Target="/ppt/slides/slide11.xml" Id="R386f0e7e48914d40" /><Relationship Type="http://schemas.openxmlformats.org/officeDocument/2006/relationships/slide" Target="/ppt/slides/slide12.xml" Id="R04eba674b7324580" /><Relationship Type="http://schemas.openxmlformats.org/officeDocument/2006/relationships/slide" Target="/ppt/slides/slide13.xml" Id="R5d06d0c2c9064428" /><Relationship Type="http://schemas.openxmlformats.org/officeDocument/2006/relationships/slide" Target="/ppt/slides/slide14.xml" Id="R467c7f65e0af4220" /><Relationship Type="http://schemas.openxmlformats.org/officeDocument/2006/relationships/slide" Target="/ppt/slides/slide15.xml" Id="Rca229396df814c8c" /><Relationship Type="http://schemas.openxmlformats.org/officeDocument/2006/relationships/slide" Target="/ppt/slides/slide16.xml" Id="R9e5b93b5e4f34bbe" /><Relationship Type="http://schemas.openxmlformats.org/officeDocument/2006/relationships/slide" Target="/ppt/slides/slide17.xml" Id="Re75afd69f48f4302" /><Relationship Type="http://schemas.openxmlformats.org/officeDocument/2006/relationships/slide" Target="/ppt/slides/slide18.xml" Id="R29610b005a0c4bc6" /><Relationship Type="http://schemas.openxmlformats.org/officeDocument/2006/relationships/slide" Target="/ppt/slides/slide19.xml" Id="R8b810050dc1d4440" /><Relationship Type="http://schemas.openxmlformats.org/officeDocument/2006/relationships/slide" Target="/ppt/slides/slide20.xml" Id="R49a2cdb9502c4c0f" /><Relationship Type="http://schemas.openxmlformats.org/officeDocument/2006/relationships/slide" Target="/ppt/slides/slide21.xml" Id="Ra91294da909e4a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0df0e4b71740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bed6277ec049c6" /><Relationship Type="http://schemas.openxmlformats.org/officeDocument/2006/relationships/notesMaster" Target="/ppt/notesMasters/notesMaster1.xml" Id="R7783a5af43db43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71b13d80824682" /><Relationship Type="http://schemas.openxmlformats.org/officeDocument/2006/relationships/notesMaster" Target="/ppt/notesMasters/notesMaster1.xml" Id="R7d37ec30d79f4e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168af139b54e57" /><Relationship Type="http://schemas.openxmlformats.org/officeDocument/2006/relationships/notesMaster" Target="/ppt/notesMasters/notesMaster1.xml" Id="Re77ff29ec77940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e49e2aba564861" /><Relationship Type="http://schemas.openxmlformats.org/officeDocument/2006/relationships/notesMaster" Target="/ppt/notesMasters/notesMaster1.xml" Id="R4ce4089a641e47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ab1ff263ca4714" /><Relationship Type="http://schemas.openxmlformats.org/officeDocument/2006/relationships/notesMaster" Target="/ppt/notesMasters/notesMaster1.xml" Id="Rf097bfc67d564f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0250d988f8444a" /><Relationship Type="http://schemas.openxmlformats.org/officeDocument/2006/relationships/notesMaster" Target="/ppt/notesMasters/notesMaster1.xml" Id="R04ac6608eb564d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e4fae36e2c4ee7" /><Relationship Type="http://schemas.openxmlformats.org/officeDocument/2006/relationships/notesMaster" Target="/ppt/notesMasters/notesMaster1.xml" Id="R36cc48367c7b4c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37e4b1380f4f0f" /><Relationship Type="http://schemas.openxmlformats.org/officeDocument/2006/relationships/notesMaster" Target="/ppt/notesMasters/notesMaster1.xml" Id="R5c3a84f5959748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ae6b304bfa48bf" /><Relationship Type="http://schemas.openxmlformats.org/officeDocument/2006/relationships/notesMaster" Target="/ppt/notesMasters/notesMaster1.xml" Id="R64ee2f6b88b74d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27f2425be14f61" /><Relationship Type="http://schemas.openxmlformats.org/officeDocument/2006/relationships/notesMaster" Target="/ppt/notesMasters/notesMaster1.xml" Id="R78deaf082f584d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324dac6cac4600" /><Relationship Type="http://schemas.openxmlformats.org/officeDocument/2006/relationships/notesMaster" Target="/ppt/notesMasters/notesMaster1.xml" Id="R948b170373574c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c21cdd920640c5" /><Relationship Type="http://schemas.openxmlformats.org/officeDocument/2006/relationships/notesMaster" Target="/ppt/notesMasters/notesMaster1.xml" Id="Rc9e24523dc434a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5edbcd4fee42b0" /><Relationship Type="http://schemas.openxmlformats.org/officeDocument/2006/relationships/notesMaster" Target="/ppt/notesMasters/notesMaster1.xml" Id="Rfd0542b48a3147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ce05bbfbb446f9" /><Relationship Type="http://schemas.openxmlformats.org/officeDocument/2006/relationships/notesMaster" Target="/ppt/notesMasters/notesMaster1.xml" Id="R6b4cc4152e6241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a1c0bb638e45dd" /><Relationship Type="http://schemas.openxmlformats.org/officeDocument/2006/relationships/notesMaster" Target="/ppt/notesMasters/notesMaster1.xml" Id="Rdaf24c4935aa4b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5298b966654263" /><Relationship Type="http://schemas.openxmlformats.org/officeDocument/2006/relationships/notesMaster" Target="/ppt/notesMasters/notesMaster1.xml" Id="R5c5c39cd95e24f4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d9e7e8952449f9" /><Relationship Type="http://schemas.openxmlformats.org/officeDocument/2006/relationships/notesMaster" Target="/ppt/notesMasters/notesMaster1.xml" Id="R9c0734f692e64a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d260467f824a5d" /><Relationship Type="http://schemas.openxmlformats.org/officeDocument/2006/relationships/notesMaster" Target="/ppt/notesMasters/notesMaster1.xml" Id="Rd69632009eb148b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98ea8157a4468f" /><Relationship Type="http://schemas.openxmlformats.org/officeDocument/2006/relationships/notesMaster" Target="/ppt/notesMasters/notesMaster1.xml" Id="Rb351613692034f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067b17d9794205" /><Relationship Type="http://schemas.openxmlformats.org/officeDocument/2006/relationships/notesMaster" Target="/ppt/notesMasters/notesMaster1.xml" Id="R05de04868c6f4d0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7803fcd9b3a4a3f" /><Relationship Type="http://schemas.openxmlformats.org/officeDocument/2006/relationships/notesMaster" Target="/ppt/notesMasters/notesMaster1.xml" Id="R6f77e6f5e03948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platform’s core promise: AI accelerates analysis, while the analyst controls evidence, inquiry resolution, and closure readiness.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through the capability chain. Emphasize that the AI is grounded in case evidence and approved query cards rather than operating as an unbounded chatbot.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progression as a controlled investigation loop. Follow-up phases are created only when closure gates identify remaining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sample case used throughout the deck. All timestamps, identities, URLs, hashes, and observations are synthetic demonstration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the first analysis is structured for readability. The questions become the explicit targets for later SPL and closure gating.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query generation is grounded in Phase 1 questions. Saved cards are retained and do not need to be collected again during a new analysis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analyst remains accountable for the search and its meaning. Editing avoids dead ends when field names or indexes differ across Splunk environments.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three result sets in the same order as the original questions. The payload supports a malicious finding, the activity review narrows scope, and the hash confirms the script is not approved.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key workflow change: the analyst moves forward into a new targeted phase instead of being sent backward to Phase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resolution changes the work queue, not the evidence record. This design supports both speed and defensibility.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evidence ledger is more than a result table. It preserves source phase, status, direction, observation, and the inquiry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case reaches Ready for Closure only when every gate passes. In the test case, confidence rises to 95 percent and all three inquiries are resolved.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Closure generation is tied to a populated rule list and the selected case. The generated note is structured for review and handoff, not treated as an autonomous final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architecture supports a local testing loop and future Windows deployment. Do not expose credentials in Git or presentation materials.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executive summary of the demonstration. The important result is not only the 95 percent confidence, but also the visible path that produced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speaker checklist. A complete demo should take about ten to fifteen minutes and should end with the evidence ledger and closure note rather than only the AI verdict.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navigation strip to reframe the product. AI Analysis is the central investigation path, while the other tabs support operators before, during, and after that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Tools are for one-off and reusable SOC tasks. Database is where the case state and evidence remain available when the API or browser restarts.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Jobs keep tool execution observable instead of making the operator wait without feedback. Reports turn useful results into artifacts that can be downloaded and shared.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Review is a supporting capability for maintainers and developers. It uses the same local AI posture while addressing source code quality, security, and performance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product tour here. Closure Notes is the handoff surface, distinct from the verdict gate: it takes the finished case and packages it for the next person or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451dbc17b49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7f8bcdd5694da6" /><Relationship Type="http://schemas.openxmlformats.org/officeDocument/2006/relationships/slideLayout" Target="/ppt/slideLayouts/slideLayout1.xml" Id="Ra0d98a52df394c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98a52df394c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6558ee7d74971" /><Relationship Type="http://schemas.openxmlformats.org/officeDocument/2006/relationships/image" Target="/ppt/media/image.png" Id="R4bbdb329ab71460c" /><Relationship Type="http://schemas.openxmlformats.org/officeDocument/2006/relationships/notesSlide" Target="/ppt/notesSlides/notesSlide1.xml" Id="R0844ec965a574d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49f354229460b" /><Relationship Type="http://schemas.openxmlformats.org/officeDocument/2006/relationships/notesSlide" Target="/ppt/notesSlides/notesSlide2.xml" Id="R045c9cac39ec40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eaf97f5254439" /><Relationship Type="http://schemas.openxmlformats.org/officeDocument/2006/relationships/notesSlide" Target="/ppt/notesSlides/notesSlide3.xml" Id="R7306664b345945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c58fbbe5344f9" /><Relationship Type="http://schemas.openxmlformats.org/officeDocument/2006/relationships/notesSlide" Target="/ppt/notesSlides/notesSlide4.xml" Id="Ra8748340dfdf4a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dc67b217d43b4" /><Relationship Type="http://schemas.openxmlformats.org/officeDocument/2006/relationships/image" Target="/ppt/media/image2.png" Id="R6aae82fd83da4360" /><Relationship Type="http://schemas.openxmlformats.org/officeDocument/2006/relationships/notesSlide" Target="/ppt/notesSlides/notesSlide5.xml" Id="Rbcfc547467da44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84fdefed84f01" /><Relationship Type="http://schemas.openxmlformats.org/officeDocument/2006/relationships/image" Target="/ppt/media/image3.png" Id="Raa0c05336a58400f" /><Relationship Type="http://schemas.openxmlformats.org/officeDocument/2006/relationships/notesSlide" Target="/ppt/notesSlides/notesSlide6.xml" Id="R8e41d677a68a47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521c14a914748" /><Relationship Type="http://schemas.openxmlformats.org/officeDocument/2006/relationships/image" Target="/ppt/media/image4.png" Id="R4a2ed19d3d5041ad" /><Relationship Type="http://schemas.openxmlformats.org/officeDocument/2006/relationships/notesSlide" Target="/ppt/notesSlides/notesSlide7.xml" Id="R50d0375c27874c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da2f6efc44638" /><Relationship Type="http://schemas.openxmlformats.org/officeDocument/2006/relationships/notesSlide" Target="/ppt/notesSlides/notesSlide8.xml" Id="R19263bb4661544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31615447d4b09" /><Relationship Type="http://schemas.openxmlformats.org/officeDocument/2006/relationships/image" Target="/ppt/media/image5.png" Id="R566212d8f70a42ad" /><Relationship Type="http://schemas.openxmlformats.org/officeDocument/2006/relationships/notesSlide" Target="/ppt/notesSlides/notesSlide9.xml" Id="Re46c30352fe54f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cb460eb36482c" /><Relationship Type="http://schemas.openxmlformats.org/officeDocument/2006/relationships/notesSlide" Target="/ppt/notesSlides/notesSlide10.xml" Id="Re9775a8df1fa47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7902851384f1f" /><Relationship Type="http://schemas.openxmlformats.org/officeDocument/2006/relationships/image" Target="/ppt/media/image6.png" Id="R33b91f41b94f4cec" /><Relationship Type="http://schemas.openxmlformats.org/officeDocument/2006/relationships/notesSlide" Target="/ppt/notesSlides/notesSlide11.xml" Id="R919b90e8384c40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61c2bdd65491b" /><Relationship Type="http://schemas.openxmlformats.org/officeDocument/2006/relationships/image" Target="/ppt/media/image7.png" Id="Rcd9eb115462c430e" /><Relationship Type="http://schemas.openxmlformats.org/officeDocument/2006/relationships/notesSlide" Target="/ppt/notesSlides/notesSlide12.xml" Id="Rdbe295e22c144f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c8e5ae4504e6f" /><Relationship Type="http://schemas.openxmlformats.org/officeDocument/2006/relationships/notesSlide" Target="/ppt/notesSlides/notesSlide13.xml" Id="R961c39e631e947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650b3b13d4ae0" /><Relationship Type="http://schemas.openxmlformats.org/officeDocument/2006/relationships/image" Target="/ppt/media/image8.png" Id="Rb6da8d122f604d12" /><Relationship Type="http://schemas.openxmlformats.org/officeDocument/2006/relationships/notesSlide" Target="/ppt/notesSlides/notesSlide14.xml" Id="R17ca3ef7acf141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42517a88a4fc8" /><Relationship Type="http://schemas.openxmlformats.org/officeDocument/2006/relationships/notesSlide" Target="/ppt/notesSlides/notesSlide15.xml" Id="R98e3fd7e0fb84e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ccc49b367455d" /><Relationship Type="http://schemas.openxmlformats.org/officeDocument/2006/relationships/notesSlide" Target="/ppt/notesSlides/notesSlide16.xml" Id="Rc59085e41a174f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cc618bcd743e3" /><Relationship Type="http://schemas.openxmlformats.org/officeDocument/2006/relationships/image" Target="/ppt/media/image9.png" Id="Rbb7cdd500db54264" /><Relationship Type="http://schemas.openxmlformats.org/officeDocument/2006/relationships/notesSlide" Target="/ppt/notesSlides/notesSlide17.xml" Id="R581e7a5c09674d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50397d99e4b1d" /><Relationship Type="http://schemas.openxmlformats.org/officeDocument/2006/relationships/notesSlide" Target="/ppt/notesSlides/notesSlide18.xml" Id="Re9ea3c6ed6b646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a673cf9394a57" /><Relationship Type="http://schemas.openxmlformats.org/officeDocument/2006/relationships/notesSlide" Target="/ppt/notesSlides/notesSlide19.xml" Id="Re61f88c845cc44f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692fab4134c75" /><Relationship Type="http://schemas.openxmlformats.org/officeDocument/2006/relationships/notesSlide" Target="/ppt/notesSlides/notesSlide20.xml" Id="R66cb7531263f4ba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c51c322a04bd7" /><Relationship Type="http://schemas.openxmlformats.org/officeDocument/2006/relationships/notesSlide" Target="/ppt/notesSlides/notesSlide21.xml" Id="Re80ba37ac18642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79082-15DC-4344-A8B0-FCDA41DB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3FF"/>
          </a:solidFill>
          <a:ln xmlns:a="http://schemas.openxmlformats.org/drawingml/2006/main" w="0">
            <a:solidFill>
              <a:srgbClr val="4EA3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1C231-3827-4619-83A3-85DFC429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68A2D-9B9C-4067-9396-3B88CD40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28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Evidence-driven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security investigations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A8CDE-1987-40F7-8C55-7BE87A64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From notable event to defensible closure with local AI, grounded SPL, and a durable evidence ledger.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29F15-A33E-4DCF-974D-C309D4EB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7418E-05CD-46C4-B675-6D38CE42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LOCAL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B836F-CB3D-464F-BAE7-22439D7D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4C6AF-CC9A-471E-9A93-38F7E830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386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AUDITABLE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57438-3966-4AD7-9FF1-ADC23B55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8145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7867F-763A-4B6C-B75B-B8415919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38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ANALYST-GUIDED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5ABB4-2EEE-4F0C-A193-4F9A8BBB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76275"/>
            <a:ext cx="5476875" cy="4924425"/>
          </a:xfrm>
          <a:prstGeom xmlns:a="http://schemas.openxmlformats.org/drawingml/2006/main" prst="roundRect">
            <a:avLst>
              <a:gd name="adj" fmla="val 2321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db329ab71460c"/>
          <a:srcRect xmlns:a="http://schemas.openxmlformats.org/drawingml/2006/main" l="20955" t="0" r="209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723900"/>
            <a:ext cx="5381625" cy="4829175"/>
          </a:xfrm>
          <a:prstGeom xmlns:a="http://schemas.openxmlformats.org/drawingml/2006/main" prst="roundRect">
            <a:avLst>
              <a:gd name="adj" fmla="val 157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1BB35-2675-4EC7-A8FB-1D076477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Feature overview and demonstration guide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7EDB1-F39E-4F84-AA1D-6FA852E5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883985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F905A3-DA62-4CEC-A960-8D816450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PLATFORM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604D0-AC05-4AAC-A001-FBF0BF4C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One workspace for the full investigation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09A11-DBC1-42D3-AE2D-5DE6ADFD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application connects detection content, analyst evidence, local AI analysis, and structured closure.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AC29C-11BD-4813-B94F-28614EA2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45117-9ED7-44C1-9F02-EC8FC6D2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Notables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914C5-393C-4B3A-BF6A-15403865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Cases and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2D6DE-60C9-4940-8C9E-98CDABD0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622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4FCBF-A93C-4464-958A-2AA59603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7F12A-B103-44EA-8323-DFC25509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Rule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E787B-F2EB-49AF-8156-2D85629F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Detection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8DE7E-62BC-4DA9-8262-0742C59A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622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EECF9-7EF8-47AE-90F3-109B5146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EC84E-A1C9-4EAE-92BB-8C68BD88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AI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23ACB-88A8-4893-BC97-9EA2D995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Ollama reasoning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DC04E-357A-42F1-BB5C-D953EAC3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622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F0075-9BCC-4F09-8F9F-6F1E3F6C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7A1D3-9211-4C4C-9423-94EA6542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SPL follow-up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B0003-B584-4EBC-94C6-9F88F7CE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Targeted searches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A66C9-D78C-4E2F-B822-CB706C4A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622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6545B3-337E-4EF1-B129-2F37B635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AA36B-A100-4823-9B59-56879E71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Evidence ledger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E4DDC-3FCD-4527-8BD1-20FAFBE1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Durable findings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783F0-BBFB-4212-92DA-13C60CB9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622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E00A1A-5E2A-4065-AF95-D229B3A7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28D124-D6F7-44F4-802D-60130D18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rPr>
              <a:t>Closure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1EC917-9B86-431C-8651-FBE0F33A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Defensible notes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98495A-4649-4EC6-A691-1C21B3B7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Analyst control plane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ACC2AD-1CE7-4BB2-ADE6-1112159A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3FF"/>
          </a:solidFill>
          <a:ln xmlns:a="http://schemas.openxmlformats.org/drawingml/2006/main" w="0">
            <a:solidFill>
              <a:srgbClr val="4EA3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105C7A-5E9B-4389-BD21-F7515ED8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903290-F323-4C18-8AA2-471A3BCD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SPL onboarding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1C0895-DF33-4901-9D26-6E48A5CF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Import results and review draft searches.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C77B87-F377-4780-B244-D9053DF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6615DE-C36F-488A-B0A0-AA7F65F2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29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Approved playbooks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62FD4-5433-4608-B8D8-88770280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33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Save analyst-approved queries for each rule.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F6668A-DAEE-41C7-9015-96632A91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EF4C09-A1D9-4D3F-8915-B0D71F78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Concise closure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DC052E-ABE7-4655-AF90-B7409F0E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33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Summarize the investigation in 1–3 sentences.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C3DD6B-36A8-4178-97AB-1168CE2A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E639ED-2936-4DC1-9250-DABBB400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733F6E-C95B-4A13-98AD-35776EB6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09973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08FD51-66CA-4E40-A55E-FB329583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OPERATOR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AA1D5-8707-49B2-9EE7-BC6A7F34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Progress forward, with review-gated onboarding for new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2EB33-975B-4BD8-A7B8-3535A4DB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Known playbooks run immediately. Unsupported rules require approved SPL before evidence collection.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020D1-2DB1-4727-8D2C-73EB7F8E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2BFE1-AA82-4EB6-BD1E-C9F3C717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B9848-4B79-46EF-B7DE-6546E227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0E4F0-DF1A-4919-B2E2-1DA8F74E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Collect case 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80905-C93F-425F-A642-3E81BB3E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24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BFEC7-977D-40D6-9899-8E81AA13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4312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DCB7A-3750-4887-A98A-4F116B78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57D49-4E34-42CC-8798-6A433980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Initial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2D8B2-CBF9-47A9-BB87-4955465B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Form hypothesis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14DBF-586C-4673-93A4-9D0CFEE3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6B744-9232-4798-8799-F5CBF507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4312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22342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03C79-3E93-42A1-9361-C6D8E0FE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1EF17-EF79-4A51-A481-7412324F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Follow-up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D82EC-ADC6-422B-B810-312CF8D6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71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Resolve inquiries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7E018-3D17-48B2-9018-FFC90046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24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CFF"/>
          </a:solidFill>
          <a:ln xmlns:a="http://schemas.openxmlformats.org/drawingml/2006/main" w="0">
            <a:solidFill>
              <a:srgbClr val="A66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1AEF3-3879-4EB5-A135-DD5AACB0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4312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241510-4C1C-4E21-BDB1-C9C9C079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B364D-E9B7-4E8E-88F5-8EA31AB4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Verdict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DAD14E-66D6-4822-9025-0FDB949F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71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Evaluate gates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62C53-2BE2-4497-BADF-496AF9F3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11836A-F0AD-4806-8D33-012D5FB0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4312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2CB9A-A730-4694-9F74-FF405A1E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39A52-FEFB-4736-A6C2-910B974F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E3AAF8-4E26-4F6E-8249-DB5220B2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Generate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099940-9B70-42CE-80E5-A57C3FF0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05250"/>
            <a:ext cx="3314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C38C1C-4F8B-42D0-8802-1CC3B62A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767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Dynamic investigation engine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134157-BAD6-42F5-9D01-D4D6AA30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196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96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Import Splunk results, review draft SPL, save the rule playbook, then rerun the case with trusted searches.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AB73BF-5921-4DF6-966A-77EF1E98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333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CFF"/>
          </a:solidFill>
          <a:ln xmlns:a="http://schemas.openxmlformats.org/drawingml/2006/main" w="0">
            <a:solidFill>
              <a:srgbClr val="A66C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E1EAA6-2AE5-4BF4-9D40-6690096D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86375"/>
            <a:ext cx="544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Resolved inquiries leave the active list but remain available for audit and additional evidence.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E3C29B-11AA-4CB5-9FAC-DE3BE6C9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315F14-87E2-4192-A118-7F203162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78E9FE-E6CA-4FB4-8D58-5E1812F4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62712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EDDB7C-5706-4C99-9526-11FAA5A8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CASE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F66AB-B9C5-44E0-A091-8A535FE7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Start with a case, rule, and evidence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F066B-EFA8-438C-8F43-08DBC63B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demonstration uses one synthetic PowerShell incident to exercise every workflow stage.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933C8-24A3-42A3-BE38-57408310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2A3BE-4073-4BEE-B1E1-65D942CA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TEST-POWERSHELL-1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DC7F9-EEC9-409E-8024-20F2EE41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PowerShell In-Memory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042F5-A4BA-42DD-A8A3-C0F5FC8D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Host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2B4C7-857A-4A96-9C56-FA731F7D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38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WIN-APP-042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6FDF8-DD2B-41FA-B19F-7B16D1BD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ECEE6-1E6D-4BC3-B5CF-05EA11E0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81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admin.jlee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7B5E3-4C86-4929-9196-C71F7194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8088E-6B7D-4CFD-A199-E7DDDCCE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24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powershell.exe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98BDA-D619-4164-850C-5943D840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Parent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CBFD8-88E6-481B-9AEB-6E8B8475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67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svchost.exe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5F860-64F8-4C77-8F7F-EB01F75E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A269B-45E9-43A3-B97B-54D795F6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SYNTHETIC TEST CASE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2F149-1769-4027-9E08-70F15CD0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Designed to validate workflow behavior without exposing production telemetry.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E0647-C7F7-4D3A-94F3-D0EF9B56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Seed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0814C-3A8B-4CF0-B2B9-0B436E30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6991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50B14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2589AA-34E8-4683-A646-6910D549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662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2026-09-10 23:40:18  WIN-APP-042  admin.jlee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powershell.exe -NoP -NonI -W Hidden -Enc SQBFAFgA...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ParentImage: C:\Windows\System32\svchost.exe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2FEAC-C1D6-4E7B-A070-D6B61097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Initial questions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65757-9C79-4845-A4E1-ECD5E676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4BF52-BF9F-4010-90CC-AA5305A9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007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What is the encoded payload’s purpose?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E2D1B-468B-4930-AE4D-68AEA6B1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38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1332A7-9BDF-4687-BA41-A43C6284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101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Is the PowerShell script known or unknown?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38C6D1-F1D9-4D44-8092-AD479E59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387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CDE2F1-57B1-41B0-858B-D90F050E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1017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Are there other suspicious executions on the host?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49031A-3CDB-4119-8454-CBAB1A48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2C3B1-482D-4171-9DBC-C2908A5B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FC3362-6B1B-49B2-97C6-E68A2781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22896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75442-F7A9-4D4A-8F28-1BC75CFB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40181-91E9-4308-91D9-57AA6416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Initial AI assessment turns raw evidence into a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B9C06-01DA-422C-BEA8-7B962E22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Local Ollama analysis proposes a hypothesis, focused questions, investigative reasoning, and a preliminary verdict.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AE501-5EEF-40F7-B795-0FEFE291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28775"/>
            <a:ext cx="904875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e82fd83da4360"/>
          <a:stretch xmlns:a="http://schemas.openxmlformats.org/drawingml/2006/main"/>
        </p:blipFill>
        <p:spPr>
          <a:xfrm xmlns:a="http://schemas.openxmlformats.org/drawingml/2006/main">
            <a:off x="609600" y="1676400"/>
            <a:ext cx="8953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00388-B3CB-4AC3-B55D-33432F78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09750"/>
            <a:ext cx="1714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78299-EDEA-413E-8B13-59880261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71675"/>
            <a:ext cx="144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7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35s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6BF24-F8CE-4FCD-8868-FFBF7896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288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analysis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ACF10-374C-4CDB-A8C2-D6553189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1714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37E3B-0DD6-4EB4-995F-1055179D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28975"/>
            <a:ext cx="144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7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75%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3A9CE-EC2B-49E0-AD8F-56102439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861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58CF3-A347-4B00-9298-5E95532A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24350"/>
            <a:ext cx="1714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74794-69BE-4EB9-9D5E-7B706469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86275"/>
            <a:ext cx="144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7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C66A6-7D34-4FE6-B538-1A8346A5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434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open inquiries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2263A-A3E1-4412-B6E7-F865564A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E3386-A9F2-4859-92FB-1F030101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6D7B2-A457-407F-B8E7-362D5507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28787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A2531-10CD-4734-B7D1-ECB3B303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6A8B7-71BB-4903-B399-18F96CF4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Approved playbooks turn Splunk evidence into reusable searches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93D8E-B6BA-4E87-8C08-22502B01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For unsupported rules, import CSV or JSON results, review draft SPL with a visible placeholder, approve the queries, and rerun the investigation.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DAE09-4243-47AF-9C48-DA0ECC44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09725"/>
            <a:ext cx="1101090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c05336a58400f"/>
          <a:srcRect xmlns:a="http://schemas.openxmlformats.org/drawingml/2006/main" l="0" t="20495" r="0" b="204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10915650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99287-A664-4AE0-B9CE-D3394B1F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FCE1B-52BF-4BD2-9BF4-910FA7D8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6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IMPORT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81F44-AFA3-49AD-A486-43ED1A53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9055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ADBE1-6F80-40FB-A366-72F6D1E4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62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REVIEW DRAFTS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676D5-C6A7-4F76-9F30-CD3DE6C3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9055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00284-F2F5-41A1-96E8-9FCF060E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9626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SAVE PLAYBOOK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64CA4-C74C-4E3B-8E6F-58A11CC8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905500"/>
            <a:ext cx="1476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9FD55-8949-4136-B5B6-271210DB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9626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RERUN CASE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75611-E48C-4D0F-AF8C-B68C1C87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F350E-DD97-4008-B3A0-D0E272F9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2634F-576E-4290-AC6E-2B90CFDF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3314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1558C-465B-4A77-8C42-631A308A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FEF4A-2613-4AE9-80D7-0EE64790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Analysts can edit SPL and classify every 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BCE19-BDD4-4FDA-BB1C-898515D8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workflow records whether a search succeeded, whether it supports or refutes the hypothesis, and whether it resolves an inquiry.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1BB21-B036-4098-9CAC-433181F0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28775"/>
            <a:ext cx="1104900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ed19d3d5041ad"/>
          <a:stretch xmlns:a="http://schemas.openxmlformats.org/drawingml/2006/main"/>
        </p:blipFill>
        <p:spPr>
          <a:xfrm xmlns:a="http://schemas.openxmlformats.org/drawingml/2006/main">
            <a:off x="609600" y="1678990"/>
            <a:ext cx="10953750" cy="4281069"/>
          </a:xfrm>
          <a:prstGeom xmlns:a="http://schemas.openxmlformats.org/drawingml/2006/main" prst="roundRect">
            <a:avLst>
              <a:gd name="adj" fmla="val 17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B42A2-B42D-41CE-A82D-A68372FC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EDIT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43BD2-024C-459D-805F-82111E55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000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Adjust SPL before sending to Splunk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632F7-CA55-42EA-9B0E-12D0EB22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38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CLASSIFY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C49AB-5936-4FE2-8126-F0B36FFE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00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Success, failure, supports, or refutes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A0CC8-1BC2-467B-A830-0F9A364D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38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RESOLVE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A0B9B-C668-4806-807B-04897122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000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Close a named investigative inquiry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F18A8-6117-46BA-BAEB-16E8F7F9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AEE68-9B0D-4F3E-9682-213C49BC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C961A-8F32-4199-892B-C8291276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34322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533136-E6C9-470A-AE69-056329EC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DEMO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2A1F5-1591-46C9-AB15-68743A7D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Three targeted checks resolve the PowerShell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6448A-8E7E-4AFF-B452-2143D0CE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Each record below is synthetic and intentionally mapped to one investigation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369D0-DDEB-442F-A6F9-231D1793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53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0AB3D-C58C-4ADF-A330-5AF442F1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D9A13-BAC1-4519-B393-3D805809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Payload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FF4FF-B24C-4727-8D22-F4B6054D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431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Decoded command uses Net.WebClient.DownloadString and IEX against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https://updates.corp.example/payload.ps1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AA7DE-5AF8-493F-BC54-888EB658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719DB-EE24-4DDD-8A10-16C13776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717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rPr>
              <a:t>SUPPORTS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22378-0DEA-42FB-8F15-8EC732E0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53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7CE27-737D-4C23-9CE5-C28C77BC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446E5-6C55-4B3A-BDCF-19FC4FA2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Recent activity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D67CF-2405-4384-A892-20D8AF5D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Maintenance script plus the encoded event. No additional suspicious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in-memory execution was identified in the review window.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73671-6417-4167-ADD8-ED9AB444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052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88319-5ACE-4D3C-9610-EB7F1720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REFUTES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B4267-EA4F-400E-81A4-72C95E6A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53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B4195-188A-4C4E-80C7-68204DA2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6EE06-6FE5-4B8D-BE71-57AAF553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24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Script hash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5BD3B-92AD-4365-8052-2477FBFD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244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7f3a9c2e1b4d6a8f9c0e11223344556677889900 was absent from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the authorized baseline and known-good catalog.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559FB-5740-422C-98F1-F11E394E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958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69A3D-BF02-486E-A974-AC305A6A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rPr>
              <a:t>SUPPORTS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2C0B7-1EF3-406C-A6AD-FF9BF6D3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AB7D43-241A-4A3F-969C-532489C8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SYNTHETIC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C7C7E4-F28B-4783-997D-2D15BA6C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15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Use these records to reproduce the demonstration without production telemetry.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D4C725-AA58-4DF5-8802-71B5A4E1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E50B7E-DAB4-4834-BD77-09C1AEE1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217365-5BE1-4D56-9E1A-CC2C61A9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72397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2AE57-7B31-4782-99C8-4FDB5A54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DE69E-A0F5-462D-B5F3-AA03594A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New investigation phases appear only when required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B2C2A-0163-43B3-83AE-D3FC71CF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Closure blockers drive the next round. Completed phases stay preserved and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53D61-B364-46BD-B57D-9A6EBACF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19250"/>
            <a:ext cx="5857875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212d8f70a42ad"/>
          <a:srcRect xmlns:a="http://schemas.openxmlformats.org/drawingml/2006/main" l="7442" t="0" r="74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666875"/>
            <a:ext cx="5762625" cy="4572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600C8-6ED2-4053-93C0-0FCC7646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095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49A17-2075-4E9D-93F3-B344D7B8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859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PHASE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39977-0C60-49A2-950C-DD7643B6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Broad follow-up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1D901-7636-40EB-B7B8-7303CF9E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86075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FECED-9FB1-43B5-A738-3B677B3A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095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0AECE-C508-4E43-8D17-94BBD5E9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PHASE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3C343-388A-4326-B795-1CA02CCA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Payload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5CEB0-1251-421A-A715-D53BDA33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24325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89C00-CFA2-4FF0-80EB-370B1DF3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095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FDDED-C48A-41A9-A4E6-209A0B18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PHASE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4375A-347B-46E8-9248-F193BA7C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Remaining inquiries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444A7-7A82-4CCD-BB8D-0515C821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No forced restart. No duplicate collection.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652B2-554B-4E2A-8290-835C3EF0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24464-7141-467F-AB4F-E47F7DD9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85B43-B513-423C-99B2-2058A9E4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572031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C69AF4-A369-407D-B3A7-3167F3E4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5E7B1-F6F5-4421-BA49-4B024177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Resolved inquiries leave the active queue without losing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1CEB9-748A-4E57-8F72-B7F756E6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interface stays clean while additional evidence remains possible.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7EDB3-4A98-41BD-AEA2-D9BA8A36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5E966-3880-416B-A086-05BE220E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Active inquiry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53B34-74F4-4828-8488-8491328F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1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Visible in the current work queue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68B78-E137-4272-99DC-B7185A37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3842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EA804-E1C7-429A-90BE-D784CB03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4855E-64A7-40F5-B994-B186E6BC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7172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Resolve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92B2C-5200-4285-9043-68EC93CA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Select the named inquiry when saving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92293-A766-4D09-9F14-D7E1D952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3842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C837A-EFCF-4D21-B231-CB7CD25F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231AD-4A02-487A-97B7-B53E2AF2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71725"/>
            <a:ext cx="2019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Resolved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1D15A-F8D7-4347-9A7E-0FE97465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Hidden from active work and retained for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62465-99CF-44A2-9A14-02365EB5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3842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01E0A-C1F0-4F60-9804-EB5267F8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2667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9CE89-B1EB-4B60-8574-A2722B5F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71725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More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87616-5A43-4EC5-9BFC-338DB37C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479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Reopen a resolved item when more validation is needed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83AF4-386B-480F-B4F8-62A2DF6F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05250"/>
            <a:ext cx="8667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62C3A-E57E-4536-8F03-8DF8C9BB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95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Analyst experience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3A724-CD90-4644-A3C4-ED3632A0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577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Unresolved questions remain prominent. Resolved questions move to a collapsible section, keeping their evidence, status, source phase, and audit history intact.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00D48-DE25-4F14-B2EB-48546EB4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054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Outcome: less clutter with no loss of investigative traceability.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CB3902-5023-4650-8922-180DFF1A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22F04-96B1-473E-B3ED-A0A9D4D1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F570C1-D17C-415A-BBD0-05E193CD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67886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FE4FFF-8462-4751-ADD8-E20AE171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E1914-0F65-4925-941D-44B34978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 durable evidence ledger preserves every investigation 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3226B-4C34-49DA-9B7C-244F7E49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Phase-specific sources make the timeline understandable and support returning to a case later.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69F52-D7B9-48BC-A257-F66AC8E4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28775"/>
            <a:ext cx="704850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91f41b94f4cec"/>
          <a:srcRect xmlns:a="http://schemas.openxmlformats.org/drawingml/2006/main" l="0" t="6175" r="0" b="61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676400"/>
            <a:ext cx="6953250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C2E9F-772C-4FA0-9FDC-3DF3BA1D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EA3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4EA3FF"/>
                </a:solidFill>
                <a:latin typeface="Courier New"/>
                <a:ea typeface="Courier New"/>
                <a:cs typeface="Courier New"/>
              </a:rPr>
              <a:t>phase2_manual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1F995-7A04-460B-9C83-7336687C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Initial follow-up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91AA3-38C8-4F1A-84C4-3E17BF38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6ED5A-B67E-497C-8FAF-1000B159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66C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A66CFF"/>
                </a:solidFill>
                <a:latin typeface="Courier New"/>
                <a:ea typeface="Courier New"/>
                <a:cs typeface="Courier New"/>
              </a:rPr>
              <a:t>phase3_manual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8FB50-49A6-47C3-9157-9306E107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Payload identification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979CF-FB33-4035-A527-257E9B5E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84B56-CA8E-44F4-AC7A-6BFC7EE1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B547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FB547"/>
                </a:solidFill>
                <a:latin typeface="Courier New"/>
                <a:ea typeface="Courier New"/>
                <a:cs typeface="Courier New"/>
              </a:rPr>
              <a:t>phase4_manual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CE36D-0678-4F6D-B9BE-BE3B7165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Final inquiry resolution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ABB83-5664-4BC4-8A5F-F1B57730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D093E-6A82-49D3-9AD3-6505DD25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5E0C1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35E0C1"/>
                </a:solidFill>
                <a:latin typeface="Courier New"/>
                <a:ea typeface="Courier New"/>
                <a:cs typeface="Courier New"/>
              </a:rPr>
              <a:t>supportive_manual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7D4E0-1CD3-4987-9F31-059391C6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Corroborating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85338-7D97-44B8-8763-C2211AC5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D3145-783A-4909-B39B-2858F744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Local PostgreSQL keeps case state, evidence, phase analyses, and closure records available across restarts.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260D8-4448-4DE2-86FF-CAB2DBF9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4203F-1F08-400F-9E51-71FD9D1E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B142C-FF48-45DD-8CFD-2E2C0625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68711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339E6-D714-4DDC-8FC1-87E2C240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82DBC-D52A-4F9F-BD8C-1DC93C90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Closure readiness is evaluated with explicit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B9A09-02EE-489B-8EC5-0B9CAA86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Confidence, corroboration, blockers, and unresolved questions remain visible before closure.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530E0-9E97-488E-9588-1BFFCDAC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CC1BB-EF19-461E-94FE-6DBDCD97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95%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54C2B-0011-4785-8ACD-5DBB7A3F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145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50625-458E-4D12-A171-FBAFA005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0ABD3-59FA-4378-95F2-48AAF757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2DAC9-10A9-4C51-A26A-79A0A876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622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9742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substantive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473BF-0130-416A-BD64-425D43CF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AF17F-06C7-4E76-BE7A-F50E8503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8294D-486F-4F6C-B6FE-2F360192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00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active blockers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D45AE-C3D1-4FBD-B5A4-FBA4EA49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549F9-6E6B-4DB8-AA15-87DA88E3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598BB-DF5C-497D-BA2B-6F8AA717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577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open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FD253-56CA-44FB-9F80-792AA5BE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09725"/>
            <a:ext cx="81915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eb115462c430e"/>
          <a:srcRect xmlns:a="http://schemas.openxmlformats.org/drawingml/2006/main" l="0" t="6842" r="0" b="68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1657350"/>
            <a:ext cx="809625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D4919-5468-418F-A189-4B4D4B78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C8570-FFDA-4BF1-B26F-AE5FD49A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D1D281-0767-4663-AC3E-E2382EF1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48347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F7EFC5-157A-42E9-B984-1C707249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6C2B2-C179-4FCB-9201-7D8D9D26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Concise closure notes preserve the investigation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9DC7A-4577-447A-9B93-7E730889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final note condenses disposition, confidence, rule context, evidence, and analyst reasoning into a readable 1–3 sentence handoff.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F0AE5-9398-47C0-9D16-6E78D0E4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5722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22B5E-C71B-4AEF-A909-D72672B1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Closure note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537C9-5695-4197-BAFE-DB377C14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FCAAF-EC30-447D-957D-1FAE28A2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860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TEST-POWERSHELL-1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AEAC9-7FC9-4CAE-AE53-56666E0A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75578-9EBF-4976-BE6B-19926B20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0E78E-4BD3-4115-881A-9A6FA784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765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PowerShell In-Memory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AED21-AD74-40CC-8108-D53EA074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18033-900E-415E-8745-2DA5BFE2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DISPOSITION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B9E9D-77FE-4E74-B7F8-BD0DEB85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671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Malicious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0C60F-4F2B-4A90-92A6-59C61120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B5638-B0CE-4782-993A-F615F002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5C085-18CE-475E-8596-685731D5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576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95%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83364-79D9-410C-AA24-4E1768B2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4C997-0813-4A16-BBDD-20D59446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ANALYST SUMMARY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59A46-A8B2-4467-B876-478196EB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482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Encoded payload retrieved and executed unapproved content. Scope review found no additional suspicious executions.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780A1-BAF5-4D26-8F11-1047CBBF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What gets carried forward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4CE59-B962-4BD2-AC6C-4C83BB2C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574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5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8F4E8-0808-4C89-BEC0-AF8739FB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Selected detection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8EC81-F41E-4CCB-AE06-270A211A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09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5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41EC0A-BBB0-4423-89FB-30439073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813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Final disposition and confidence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8C158-1D11-4684-93C4-F0FA2BBB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623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5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24CB26-C3ED-4172-A8D4-FAF671D3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33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Resolved inquiry trail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C1EFCE-F90C-439E-A3AF-3D9B3AF9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1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5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C91AE0-D774-4961-A859-E73F07FA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862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Supporting and refuting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E7A698-D799-462E-89A1-4C4948CC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67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5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F8BDAF-48B1-4198-B8F9-22E4AC86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386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1–3 sentence investigation summary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177DF-DC44-4C64-9378-DE5A6AFC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81625"/>
            <a:ext cx="2952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918C7F-FABC-4BF9-8BC0-C4E63A1C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38775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ANALYST-REVIEWED 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D4F81D-2747-4136-86F2-56FC069B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AB7DD0-9CD0-422E-956C-48C528A0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E0295B-384E-4161-9DB6-AA8B4031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03829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04568D-DDF8-4340-B369-D81FEA74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5CFB1-68D0-4F71-AD56-408413AF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Local-first architecture keeps data under operator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77204-6DB4-42F5-BFC9-9C5385B0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same workflow can be tested on Linux or macOS and brought back to Windows.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BA22D-301F-4C31-8692-34C8A415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34E36-6C20-4A23-BB48-16C645F7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Browser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EEA3B-9DBF-4ACF-ABAE-80002AF4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Investigation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F677B-3714-4A4F-BD05-2183F658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05075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9173C-E68D-419F-B4A2-C9816FB4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14550"/>
            <a:ext cx="200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0651D-D797-4256-928C-71EE35D1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2383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66BA1-C403-46DF-A9A2-66590BBA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146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Workflow and persistence APIs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799E3-16B1-4A63-B5C9-1D373FD6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05075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68C6D-9385-401A-8F6A-7C9330DB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204787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0A75C-325C-4323-A572-8A3D0469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38375"/>
            <a:ext cx="1781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B0FDC-427C-4761-BE84-7E6BAEC9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14600"/>
            <a:ext cx="1781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Cases, evidence, analyses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8C272-45E9-4AC8-AD6F-1F32F171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505075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4DF60-9A6E-45FB-A75B-42FCA65B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1455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764D6-41D2-4664-8C67-EA7BEB42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38375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Ollama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61EC58-0B3C-42B5-A222-DF62A54D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Local llama3.1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0EE203-617E-4E30-87D4-67D8EF94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05075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096C2-4461-41DB-B989-7C0AB793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114550"/>
            <a:ext cx="1381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02C92-147D-4B6C-8A78-8EF87819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238375"/>
            <a:ext cx="1114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Splunk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5BE431-64BA-4321-B6D1-239673EF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514600"/>
            <a:ext cx="111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Analyst-run SPL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84AE2-3041-48DF-A20D-1DEE2090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Deployment choices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9B1635-4DFD-4110-A087-F4954E91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Docker Compose for portable setup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144D2A-CA8D-4C59-8576-3CCE40A5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Native API restart script for rapid local testing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CD27A-94B8-4C8A-8E22-5C8DBD32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Database dump and import workflow for coworker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3751C0-B77C-4F49-9C5E-9C618C14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24275"/>
            <a:ext cx="542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a8d122f604d12"/>
          <a:stretch xmlns:a="http://schemas.openxmlformats.org/drawingml/2006/main"/>
        </p:blipFill>
        <p:spPr>
          <a:xfrm xmlns:a="http://schemas.openxmlformats.org/drawingml/2006/main">
            <a:off x="6191250" y="3776439"/>
            <a:ext cx="5334000" cy="771972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699B3-D346-494F-9FE3-A5236F00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533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285780-B854-4370-848C-287AFCA9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43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Secrets stay local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6DF07-084B-4015-8B80-FF6687E6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57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Use .env and .pgpass for seamless restarts. Database passwords and dumps remain outside Git.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265664-DC7E-4062-951F-8EA0F4AC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82D5AB-07A6-4933-95E3-93ADDA76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5E055B-67C2-4681-BC7F-72560E70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725629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7A2CB5-93DD-4FAC-8617-F86F5D47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DEMONSTRATION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B41BB-CA6A-4927-9501-7ADFCA30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The test case moved from suspicion to closure-ready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E6897-FE73-4B00-8888-9BCC37B2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workflow produced a measurable improvement in confidence and eliminated every investigation blocker.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90B35-8A30-4CED-9336-FE154465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90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7B494-C494-4B36-8620-1FB7B62F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75%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BBF71-78D7-4A38-89CF-4A8E1D04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Initial 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8D3B8-2992-4997-9493-5F8F4C40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52625"/>
            <a:ext cx="190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0D9A3-1A73-4184-A4E5-FFDDBDC6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336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95%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2D974-8262-4B5E-83F7-508D4CF7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Final 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D3011-9596-4495-826F-8D83A9B8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190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B3C56-37F4-4C2B-863C-49900658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22F3C-B97F-47BF-826B-4C37F96F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Questions opened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150DD-47F9-4C89-AAE0-44C1BDFF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52625"/>
            <a:ext cx="190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4645A-C380-44BE-A135-DD8FE0D5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336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9C359-7197-42C3-8F31-818FBC6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Questions remaining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5563B-3DC8-4CEF-BE2B-367FE63A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2625"/>
            <a:ext cx="190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D3606-41F8-4F3A-A5FB-4C27E007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336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A35D0-980C-4986-8291-0FE5A05B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Substantive findings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D16C4-BC52-4D05-87AD-1ED3CDC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1000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30AE7-2E93-43E6-83F6-93E25BF2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77"/>
          </a:solidFill>
          <a:ln xmlns:a="http://schemas.openxmlformats.org/drawingml/2006/main" w="28575">
            <a:solidFill>
              <a:srgbClr val="0711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F30B5-38B3-41BD-8D6C-474F5702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000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6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Suspicious encoded command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0A264-A16A-4A02-A500-0AE52C81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FF"/>
          </a:solidFill>
          <a:ln xmlns:a="http://schemas.openxmlformats.org/drawingml/2006/main" w="28575">
            <a:solidFill>
              <a:srgbClr val="0711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FB9C7E-FE60-4BD5-9022-114CAEB9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000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72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Targeted evidence collected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6D921-C39D-470F-A484-13A2B561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C1"/>
          </a:solidFill>
          <a:ln xmlns:a="http://schemas.openxmlformats.org/drawingml/2006/main" w="28575">
            <a:solidFill>
              <a:srgbClr val="0711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01107E-5E6C-4557-A4E2-9FBA02C4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Scope narrowed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1B7087-B594-4352-A1DD-93F255AE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99B"/>
          </a:solidFill>
          <a:ln xmlns:a="http://schemas.openxmlformats.org/drawingml/2006/main" w="28575">
            <a:solidFill>
              <a:srgbClr val="0711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70D2C9-70F5-4347-BC84-34DD88A0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00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Inquiries resolved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B4A4EA-78F4-4566-A8D4-8E57B66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99B"/>
          </a:solidFill>
          <a:ln xmlns:a="http://schemas.openxmlformats.org/drawingml/2006/main" w="28575">
            <a:solidFill>
              <a:srgbClr val="07111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0DD18D-4464-405F-BE4C-66AC6F69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Closure ready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A597F7-488E-460E-B29E-036C404C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097D00-80C0-4D03-914B-C07FBECF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0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 malicious disposition supported by a transparent evidence trail, explicit analyst decisions, and reproducible search results.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29DA41-65B4-43F7-9EB2-6FC6E49B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717CE8-88D9-4C38-A8EC-B698BBA5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CDC92C-E288-41F2-9DA7-ADAD87A6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658186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B3ADF7-ADD6-4C83-AD68-50220CF9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PRESENTATION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35FCB-0750-44A1-B63F-C2F37E20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 concise live demo path for every major 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41F43-EBC8-4638-8490-BB2B612B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Use a new unsupported rule to demonstrate playbook onboarding and end-to-end evidence collection.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7BF49-ACF1-4684-8208-77B0C29C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15B64-50D2-4967-9098-EB7C7B0D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859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Open an unsupported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117AC-8095-423A-94C9-1C25E7E7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Confirm the rule has no approved playbook yet.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AD907-1322-420E-A0EC-3DBFA9FB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289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BAAD4-9CE4-4153-820D-13828264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14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0A568-5A53-443C-8A10-97CABF9E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6859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Import Splunk results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10775-A323-4753-BD31-2D725CFB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05740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Upload CSV or JSON with index and sourcetype fields.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40C5A-C7CE-4BFE-9034-4908FED8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289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50CC8-FB32-4D28-BBD8-327E4729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1329C-3970-448F-B004-F6D23496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384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Review and save SPL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A2EE4-AAE6-4C72-931E-B3AC6D9E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Replace the placeholder, approve the queries, and save the playbook.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FECCE-0982-4A8C-8631-90C72681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D40E4-B1E2-4E5B-B1BF-10C50D37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67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73E59-5579-478F-B722-090FA7E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0384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Collect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A9757-0129-4C83-A982-755171F5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0995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Run the saved cards, paste results, and advance to assessment.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D965D-7C95-4C0D-BC16-4D1D4907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814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0B164-BF63-4974-A89A-E3BE58AF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C3FF9-DA4A-4A4F-AD05-3F2BBFF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910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Run follow-up phases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39192-D35A-4EB7-B554-396EBE5A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Resolve remaining inquiries with targeted, persistent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D56AF-CFA4-46A9-809A-974084BB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9D1C7-B51B-4DD6-B0FB-2B708C46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419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65DA1-C036-4841-BB1A-9382FFC0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3910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Close the case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45A5B-6EA3-4C2F-97DB-ED29D40B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76250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Generate concise 1–3 sentence closure notes after the gates pass.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860FA5-3BBE-4E64-9CCD-4813915D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3340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774DDB-655E-4B11-8AB9-62206E9F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952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A02EBB-A3B7-4708-A5AE-1D758F7D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READY TO PRESENT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0705C5-6C4F-4B4D-8388-213C225C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150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Repository: github.com/swinneyj/soc-plaform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40948D-2426-4A47-A229-7A3B9D7B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F73EB6-6C60-4643-9ED6-9FBE8989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37C239-0C0B-456A-B550-2657B8D3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341016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372377-FE67-4101-A84D-50EA43CF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PRODUCT TOUR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77FE7-9227-4A30-992F-06401918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The investigation workflow sits inside a broader SOC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546D6-DD54-49D4-84B5-BE794FF7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Supporting pages handle operations, storage, reporting, and code-focused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EAB36-69DD-45EC-A7A2-CDF88377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C2D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cdd500db54264"/>
          <a:stretch xmlns:a="http://schemas.openxmlformats.org/drawingml/2006/main"/>
        </p:blipFill>
        <p:spPr>
          <a:xfrm xmlns:a="http://schemas.openxmlformats.org/drawingml/2006/main">
            <a:off x="2321399" y="2000250"/>
            <a:ext cx="7492052" cy="647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03015-77EA-4FAD-A67E-EB448A21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5165B-A1E7-48CC-9CF5-3F92C08A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0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Search and run the SOC tool catalog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FEA0A-419C-49E8-A3EE-DC8EC67E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1A376-A1EE-4D8F-861A-52CE5F0E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29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A6FF5-0D19-442A-9FD9-67581103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52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Browse triage cases, notables, and stats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49ED2-4DD8-4E96-83E4-5556659F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02A0B-D92D-4E65-A190-4385AA8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AI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2837A-B150-4537-A1CA-E579411D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Run the progressive investigation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AD4B1-8939-4B41-9473-907E4E34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1F6F6-AE8D-4F89-8F11-8F3A523F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29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Closure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F2842-1458-409B-8D9D-00DF0F5D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52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26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Generate structured handoff notes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878EB-2E25-45CC-86C1-545FD9B4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672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BAF8D-4224-4D6B-940F-4381235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A4D5C-C658-46C0-B7FC-94733E06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4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Track asynchronous tool 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76F56-5C06-4B13-9037-0A9B5251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A234D-6698-4611-8D9F-EA0B918F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91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rPr>
              <a:t>Reports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32D008-4F75-4025-838E-B0B18FFF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149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Download generated briefings and results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2CC92-51BD-4F14-B7E1-12B137DE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29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DE14A9-4C46-4EF2-8D10-FBF62456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Code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BC622F-DD53-4614-970E-1C011871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149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Review code with local Ollama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2E2782-C547-45AC-95DA-609F803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29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54CABA-874D-45A4-940C-A71EE3BC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5942CA-5480-4917-A16F-1F618315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7AE6D-248D-49DE-8E3B-D6146962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030602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5A08CB-9DB9-4781-AF0E-560FFE99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SUPPORTING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571C5-42D0-4C8A-AF92-37830F3C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Tools and Database turn the platform into an operator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DD4B5-8083-469C-8405-739E433F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These pages provide reusable actions and a durable view of the case data that feeds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3DE5D-9A5D-403E-9193-A875378E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Tools catalog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DF1F1-8F29-448C-B886-4F781F9D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36 tools available across orchestration, sanitization, intelligence collection, reporting, and system utilities.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3E30F-DAE7-46E3-A227-B8CB99D4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3796E-2071-40EC-A01E-EE9BE04A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Playbook_Runner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DF695-429E-41F8-B426-D1F72389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FE9E0-1D1A-4C60-A7EB-DC336284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Data_Ingestor_Pipeline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3349E-E988-4C15-B3CD-A46447B3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1F988-3AF0-4B5E-BCF3-DF0D1288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base64_decoder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A0BE1-B65B-4110-912A-B75F36B2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DAB55-89DE-474C-A3B1-9E4C7B1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IOC 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7957A-DC73-4292-8CA0-121979E4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0E263-BEF6-45EC-8A58-3209AB48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Report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2575A-6D47-461B-BBBC-9C782649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907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EA5B5-3AD4-45D3-9756-1EB40C0A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90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54CD4-5C0D-4EEB-A235-80DEFCC9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durable system of record for triage cases, recent pasted notables, statistics, evidence, and saved analyses.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5D171-97EC-4F11-9C5D-093B6885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Triage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16E8D-7400-4BB0-98BE-7DBB5068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Case status, rule context, disposition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F54BA-B311-4804-99FC-751A6DD8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6568E-87EE-4311-9D80-3D5CDC28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Recent notables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75DC41-4CA6-4FA4-88B0-B76EF158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Raw and sanitized source details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2C8A29-4C75-4E7A-84A2-253511A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87C19-F31B-4218-B830-36E4A9F7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24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FB0A35-7FE7-4A00-A7BA-B9F6E398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Phase-specific findings and observations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FD1EFD-04F4-476B-B942-9B13819C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482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B714C-36DC-4EC7-B480-CE0F8A64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33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Stats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F8FC11-B9F0-43A6-BA41-F6FA22AC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339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Counts and verdict breakdowns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3E829E-7412-46C4-BB4A-64F7F6B2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578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4E076F-1BE3-4732-A957-E0EC1F21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197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FC1E19-BF0B-42FD-BB92-3AEACA45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769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PERSISTENT ACROSS RESTARTS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FBC5CB-BC1C-4666-94A4-DD9A0CF4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399B46-1C3F-4A3C-B39B-3A780477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9B4E77-281A-44E3-A36A-C975120E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962236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B10AE2-C61D-4B38-9F5C-3B09A6EA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SUPPORTING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9F676-19D2-4F44-B223-3E8A04BD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Jobs and Reports make long-running work visible and reusable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13CE6-BC48-4B1D-B08C-DF168BD0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Operators can queue a tool, monitor its execution, inspect output, and download the resulting artifact.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DB0CB-588B-4D17-A3CA-2DEE5DB2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A8330-70AE-42C4-B542-C38740E8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Run a tool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05098-6887-4491-A533-0CE8D006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API returns a job 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EC8D6-5B38-4563-9C8D-E1DDCB85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9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08A5B-72FC-435F-8CEA-449A225E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9075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EA39E-FE37-451B-A7DB-9E2F1AA0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14575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Track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6AA99-FC06-4BC0-9CEF-EC45C8D1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26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Pending, running, completed, or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A9B27-C4E1-4A55-BA55-06EAD404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09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4B5E8-4D5B-4AF6-83ED-6BD0E4A5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80E73-C813-43A5-8F6F-1E70D392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14575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Inspect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CB459-541D-4AEE-B092-4064E62D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Stdout, stderr, and exit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E48E7-D6AE-4043-B29B-4021E91F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1D808-119C-4509-B17B-8C5E8AB3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9075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07D91-5962-46A2-89DC-BC365A4C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14575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Download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2D41B-6BA8-4378-853D-47E0DB15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90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Briefings and analysis results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4BDD4-5AF3-4261-894F-6EB3A663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668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EAAC1-D7B1-4969-9815-AADC0EC8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Operational trace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24ABF-5152-4E08-BD69-44B7F4F7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8517A-512B-498A-9628-31DC7B4C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91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job_id  •  tool_name  •  created_at  •  completed_at  •  exit_code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393A43-A07B-4F81-A5D6-4AF3BC34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Reports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60BE49-6D56-45C2-A056-110121B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530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filename  •  size  •  modified  •  download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AB7B30-6ADC-4C7E-BF4E-B7999D0D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624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AA3E13-0C0B-4F5A-94C7-56F10609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19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ASYNC EXECUTION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17516B-3B9C-4418-B532-1F1165FB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A3567F-E7AE-4BFA-BA06-BF8AF5A6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807D79-B718-44B8-9D9A-0C23200C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71371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54A336-D9A8-4F9C-9CB6-09153064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SUPPORTING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551DC-A932-4561-81A5-98D671C5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Code Review with local Ollama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45028-49A1-4E0F-B99B-CDBE2021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review surface supports focused questions, file or project uploads, section detection, and review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C1E25-27F0-4A76-BEF0-A897B1CD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447675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B68B8-A9C3-47A7-81F0-40A9D29C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Code Review with Local Ollama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6DA95-3BCB-48C3-9A11-BCBC7372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BBB2C-053F-4E1A-84A4-21DF0AFA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812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Python, JavaScript, Go, Bash, SQL, 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6B01C-5046-4BDB-B2C6-5A988ED8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7AF1A-250D-4658-8B2D-26A3F062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F9BAF-E6A8-49C3-808E-5BA98E6F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Choose an available local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B8E35-3896-4EDD-92D7-98BA11C4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D0BC2-888F-4917-8301-7A6F8459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CA2BC-2712-4F8E-B215-D93AABBB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62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File, project ZIP, folder, or pasted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2FD61-FAC9-432C-B255-323DB3E0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B5216-BC9C-415C-B08B-3CA042A4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C697E-E5A5-440B-B0C0-6E4BC516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529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Search for a section or detect functions and classes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FC796-12DE-4184-9654-5954EEDD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0EDEB-1369-47E0-9391-C49AB48C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C7496-6276-4CC7-B347-260C5806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434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Keep previous reviews for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012A8-EB13-405A-B087-3616DD8B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7D0CA-BAAB-4A43-81F9-2CBCECD1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71650"/>
            <a:ext cx="575310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050B14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66DBC-B0A7-43D2-89BE-82609F07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Review 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1B76A-F384-49A8-A0D4-043E7221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4905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Focus on security issues in this function and flag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unsafe subprocess usage.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4EECC-2A2D-49D2-AC83-03CF36E6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813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79B5E-9C8E-4FB8-8A61-9A5EC80B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67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Review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F52D5C-9A8E-426C-B441-AC7F6EB9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481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[HIGH] Validate input before invoking the shell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[MEDIUM] Add an explicit timeout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[INFO] Consider structured logging for errors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EF544E-BFE4-4F87-8160-C413A90C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578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B39563-E3FD-40B6-A2DD-416FE605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14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LOCAL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2A1DE7-3C61-4F01-BA0F-260BB3AE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F5E94A-062C-439B-B092-29C5C532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D8DBD9-D6FB-406C-BB57-AD66174F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857099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C778C9-DCA5-4A74-9C47-84BA47E5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SUPPORTING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CD92B-C427-424C-9376-02FE022A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Closure Notes for case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EC8EE-097E-4256-965F-3C229D7D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tab provides a separate operational surface for selecting the case, rule, disposition, and analyst narrative.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B4388-3F58-4B7C-BD86-8C092EF6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1912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DDE40-2020-4A37-996E-4A8CD7B9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Closure Notes 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B34E8-45D6-4690-91C4-BC920480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2F7B1-38D5-438F-962A-ECC4EEFD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1937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TEST-POWERSHELL-1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44C09-D873-4F6A-960E-0DE1921D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80248-1E7C-44D9-BE83-9D114898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7DFBF-9998-49D4-913A-50CEC8EE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PowerShell In-Memory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A484D-4FD7-4E13-981A-FAF19EC4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94B7F-75F1-4BAF-AF24-E343ED63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REQUIRED FIELDS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70BB6-3C9F-4D3F-A671-70BB589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0047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Justification, analyst notes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3F79A-C797-4A4D-B444-5C51A558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DED08-79BF-4F4E-8F2B-07137A4E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DISPOSITION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184B4-E2E2-4359-82BA-E31E3A7D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9102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True Positive / Benign Positive / False Positive / Other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6C359-6370-4669-8652-BFC4D82F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39142-BE48-401C-908C-E4880A8E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A9042-3234-409A-A0EE-FC749362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8157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Generate, copy, or download .txt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29716-BBBD-4767-A3D7-1CC4C544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6D2DE-224A-48D5-8FBD-321A67B3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42291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8AD0C4-DB53-493A-848D-3CA82DE7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38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Generated note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FFCFA-B42D-480B-B83C-77E67304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Disposition: True Positive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Rule: PowerShell In-Memory Execution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Summary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The encoded payload retrieved and executed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unapproved content. Scope review found no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additional suspicious executions.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A1A7E-8933-42C0-A2DD-B44361E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8812AE-AAA2-4E8B-90D7-1562C9F6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9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COPY TO CLIPBOARD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B18B4D-AAFF-40A3-9987-0A294DB2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6250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E8D786-3C8E-4616-9BDA-47626591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196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DOWNLOAD .TXT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38F692-B582-4BE2-8E55-09C8191B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863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8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 separate tab keeps closure work accessible even after the investigation workflow reaches Ready for Closure.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112F4-AD51-4009-88BD-BB08F9C9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7E893C-743F-41EE-BD00-CC4BBE16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4E0147-2770-4D84-A637-8DEDB56E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2297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2026-09-12T00:36:07.7440000Z</dcterms:created>
  <dcterms:modified xsi:type="dcterms:W3CDTF">2026-09-12T00:36:07.7440000Z</dcterms:modified>
</coreProperties>
</file>