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20b5b4d4654792" /><Relationship Type="http://schemas.openxmlformats.org/officeDocument/2006/relationships/extended-properties" Target="/docProps/app.xml" Id="Reef91b660e264269" /><Relationship Type="http://schemas.openxmlformats.org/officeDocument/2006/relationships/officeDocument" Target="/ppt/presentation.xml" Id="R3c31604719d74a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6a5c0dec1542bb"/>
  </p:sldMasterIdLst>
  <p:notesMasterIdLst>
    <p:notesMasterId xmlns:r="http://schemas.openxmlformats.org/officeDocument/2006/relationships" r:id="R967e3921d109444d"/>
  </p:notesMasterIdLst>
  <p:sldIdLst>
    <p:sldId xmlns:r="http://schemas.openxmlformats.org/officeDocument/2006/relationships" id="256" r:id="R2e10f3edb5654dfe"/>
    <p:sldId xmlns:r="http://schemas.openxmlformats.org/officeDocument/2006/relationships" id="257" r:id="R7e94b87d0037464f"/>
    <p:sldId xmlns:r="http://schemas.openxmlformats.org/officeDocument/2006/relationships" id="258" r:id="Rde7e83ae27774870"/>
    <p:sldId xmlns:r="http://schemas.openxmlformats.org/officeDocument/2006/relationships" id="259" r:id="Rf7a6318df9d542bb"/>
    <p:sldId xmlns:r="http://schemas.openxmlformats.org/officeDocument/2006/relationships" id="260" r:id="Rcc15ad4e167a4c13"/>
    <p:sldId xmlns:r="http://schemas.openxmlformats.org/officeDocument/2006/relationships" id="261" r:id="R215f7c8ae1984dec"/>
    <p:sldId xmlns:r="http://schemas.openxmlformats.org/officeDocument/2006/relationships" id="262" r:id="R2f1f991e02114717"/>
    <p:sldId xmlns:r="http://schemas.openxmlformats.org/officeDocument/2006/relationships" id="263" r:id="Rc6e8570b809244a0"/>
    <p:sldId xmlns:r="http://schemas.openxmlformats.org/officeDocument/2006/relationships" id="264" r:id="Re601bce7e8504b0c"/>
    <p:sldId xmlns:r="http://schemas.openxmlformats.org/officeDocument/2006/relationships" id="265" r:id="Rb017d7947a2a473c"/>
    <p:sldId xmlns:r="http://schemas.openxmlformats.org/officeDocument/2006/relationships" id="266" r:id="Rfd873a14d75243bc"/>
    <p:sldId xmlns:r="http://schemas.openxmlformats.org/officeDocument/2006/relationships" id="267" r:id="R45fc4872a8614052"/>
    <p:sldId xmlns:r="http://schemas.openxmlformats.org/officeDocument/2006/relationships" id="268" r:id="R4b3df3d196804ae6"/>
    <p:sldId xmlns:r="http://schemas.openxmlformats.org/officeDocument/2006/relationships" id="269" r:id="R22e61b8ef9704f73"/>
    <p:sldId xmlns:r="http://schemas.openxmlformats.org/officeDocument/2006/relationships" id="270" r:id="Rdc1b9031798d414d"/>
    <p:sldId xmlns:r="http://schemas.openxmlformats.org/officeDocument/2006/relationships" id="271" r:id="Raedd1767cedd40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f8bbd50fcf4d3f" /><Relationship Type="http://schemas.openxmlformats.org/officeDocument/2006/relationships/slideMaster" Target="/ppt/slideMasters/slideMaster1.xml" Id="R246a5c0dec1542bb" /><Relationship Type="http://schemas.openxmlformats.org/officeDocument/2006/relationships/notesMaster" Target="/ppt/notesMasters/notesMaster1.xml" Id="R967e3921d109444d" /><Relationship Type="http://schemas.openxmlformats.org/officeDocument/2006/relationships/presProps" Target="/ppt/presProps.xml" Id="R3deca469bd0c4c9b" /><Relationship Type="http://schemas.openxmlformats.org/officeDocument/2006/relationships/tableStyles" Target="/ppt/tableStyles.xml" Id="R9d867aa35b1d4abb" /><Relationship Type="http://schemas.openxmlformats.org/officeDocument/2006/relationships/slide" Target="/ppt/slides/slide1.xml" Id="R2e10f3edb5654dfe" /><Relationship Type="http://schemas.openxmlformats.org/officeDocument/2006/relationships/slide" Target="/ppt/slides/slide2.xml" Id="R7e94b87d0037464f" /><Relationship Type="http://schemas.openxmlformats.org/officeDocument/2006/relationships/slide" Target="/ppt/slides/slide3.xml" Id="Rde7e83ae27774870" /><Relationship Type="http://schemas.openxmlformats.org/officeDocument/2006/relationships/slide" Target="/ppt/slides/slide4.xml" Id="Rf7a6318df9d542bb" /><Relationship Type="http://schemas.openxmlformats.org/officeDocument/2006/relationships/slide" Target="/ppt/slides/slide5.xml" Id="Rcc15ad4e167a4c13" /><Relationship Type="http://schemas.openxmlformats.org/officeDocument/2006/relationships/slide" Target="/ppt/slides/slide6.xml" Id="R215f7c8ae1984dec" /><Relationship Type="http://schemas.openxmlformats.org/officeDocument/2006/relationships/slide" Target="/ppt/slides/slide7.xml" Id="R2f1f991e02114717" /><Relationship Type="http://schemas.openxmlformats.org/officeDocument/2006/relationships/slide" Target="/ppt/slides/slide8.xml" Id="Rc6e8570b809244a0" /><Relationship Type="http://schemas.openxmlformats.org/officeDocument/2006/relationships/slide" Target="/ppt/slides/slide9.xml" Id="Re601bce7e8504b0c" /><Relationship Type="http://schemas.openxmlformats.org/officeDocument/2006/relationships/slide" Target="/ppt/slides/slide10.xml" Id="Rb017d7947a2a473c" /><Relationship Type="http://schemas.openxmlformats.org/officeDocument/2006/relationships/slide" Target="/ppt/slides/slide11.xml" Id="Rfd873a14d75243bc" /><Relationship Type="http://schemas.openxmlformats.org/officeDocument/2006/relationships/slide" Target="/ppt/slides/slide12.xml" Id="R45fc4872a8614052" /><Relationship Type="http://schemas.openxmlformats.org/officeDocument/2006/relationships/slide" Target="/ppt/slides/slide13.xml" Id="R4b3df3d196804ae6" /><Relationship Type="http://schemas.openxmlformats.org/officeDocument/2006/relationships/slide" Target="/ppt/slides/slide14.xml" Id="R22e61b8ef9704f73" /><Relationship Type="http://schemas.openxmlformats.org/officeDocument/2006/relationships/slide" Target="/ppt/slides/slide15.xml" Id="Rdc1b9031798d414d" /><Relationship Type="http://schemas.openxmlformats.org/officeDocument/2006/relationships/slide" Target="/ppt/slides/slide16.xml" Id="Raedd1767cedd40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26cf25ee734e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65dbb1bc6b4ccb" /><Relationship Type="http://schemas.openxmlformats.org/officeDocument/2006/relationships/notesMaster" Target="/ppt/notesMasters/notesMaster1.xml" Id="R70be0f6e49584c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855aec953744f6" /><Relationship Type="http://schemas.openxmlformats.org/officeDocument/2006/relationships/notesMaster" Target="/ppt/notesMasters/notesMaster1.xml" Id="Rb25739f3723042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8568824104b7b" /><Relationship Type="http://schemas.openxmlformats.org/officeDocument/2006/relationships/notesMaster" Target="/ppt/notesMasters/notesMaster1.xml" Id="Rf0884428c5f741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ac4f95ad6c40ca" /><Relationship Type="http://schemas.openxmlformats.org/officeDocument/2006/relationships/notesMaster" Target="/ppt/notesMasters/notesMaster1.xml" Id="Rac49d97888bb40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2a833ad81b43d7" /><Relationship Type="http://schemas.openxmlformats.org/officeDocument/2006/relationships/notesMaster" Target="/ppt/notesMasters/notesMaster1.xml" Id="R257646ab299b45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6d8024c8704be8" /><Relationship Type="http://schemas.openxmlformats.org/officeDocument/2006/relationships/notesMaster" Target="/ppt/notesMasters/notesMaster1.xml" Id="R6a038e44074846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29e8deedc4cf2" /><Relationship Type="http://schemas.openxmlformats.org/officeDocument/2006/relationships/notesMaster" Target="/ppt/notesMasters/notesMaster1.xml" Id="R6d272ac9040441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97596881f942b1" /><Relationship Type="http://schemas.openxmlformats.org/officeDocument/2006/relationships/notesMaster" Target="/ppt/notesMasters/notesMaster1.xml" Id="R9c34313459ba4a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d9c23850f14ea4" /><Relationship Type="http://schemas.openxmlformats.org/officeDocument/2006/relationships/notesMaster" Target="/ppt/notesMasters/notesMaster1.xml" Id="Red62a7b6923042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acea7a8c834bc0" /><Relationship Type="http://schemas.openxmlformats.org/officeDocument/2006/relationships/notesMaster" Target="/ppt/notesMasters/notesMaster1.xml" Id="R8d291c95372349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6eca6347604141" /><Relationship Type="http://schemas.openxmlformats.org/officeDocument/2006/relationships/notesMaster" Target="/ppt/notesMasters/notesMaster1.xml" Id="R3753b4d175c145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79c949590f4386" /><Relationship Type="http://schemas.openxmlformats.org/officeDocument/2006/relationships/notesMaster" Target="/ppt/notesMasters/notesMaster1.xml" Id="Rcf4b4362e6ab4c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071783056940dc" /><Relationship Type="http://schemas.openxmlformats.org/officeDocument/2006/relationships/notesMaster" Target="/ppt/notesMasters/notesMaster1.xml" Id="R0f26ecca0d1f48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494852184d4242" /><Relationship Type="http://schemas.openxmlformats.org/officeDocument/2006/relationships/notesMaster" Target="/ppt/notesMasters/notesMaster1.xml" Id="Rd391d2ddaad145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59dedc82af47cb" /><Relationship Type="http://schemas.openxmlformats.org/officeDocument/2006/relationships/notesMaster" Target="/ppt/notesMasters/notesMaster1.xml" Id="R0d182a03553f43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78fc6a55ca4d4b" /><Relationship Type="http://schemas.openxmlformats.org/officeDocument/2006/relationships/notesMaster" Target="/ppt/notesMasters/notesMaster1.xml" Id="R0862729aa70941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platform’s core promise: AI accelerates analysis, while the analyst controls evidence, inquiry resolution, and closure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 through the capability chain. Emphasize that the AI is grounded in case evidence and approved query cards rather than operating as an unbounded chatbot.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progression as a controlled investigation loop. Follow-up phases are created only when closure gates identify remaining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sample case used throughout the deck. All timestamps, identities, URLs, hashes, and observations are synthetic demonstration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the first analysis is structured for readability. The questions become the explicit targets for later SPL and closure gating.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query generation is grounded in Phase 1 questions. Saved cards are retained and do not need to be collected again during a new analysis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analyst remains accountable for the search and its meaning. Editing avoids dead ends when field names or indexes differ across Splunk environments.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three result sets in the same order as the original questions. The payload supports a malicious finding, the activity review narrows scope, and the hash confirms the script is not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key workflow change: the analyst moves forward into a new targeted phase instead of being sent backward to Phase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resolution changes the work queue, not the evidence record. This design supports both speed and defensibility.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ledger is more than a result table. It preserves source phase, status, direction, observation, and the inquiry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case reaches Ready for Closure only when every gate passes. In the test case, confidence rises to 95 percent and all three inquiries are resolved.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Closure generation is tied to a populated rule list and the selected case. The generated note is structured for review and handoff, not treated as an autonomous final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architecture supports a local testing loop and future Windows deployment. Do not expose credentials in Git or presentation materials.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executive summary of the demonstration. The important result is not only the 95 percent confidence, but also the visible path that produced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the speaker checklist. A complete demo should take about ten to fifteen minutes and should end with the evidence ledger and closure note rather than only the AI verdict.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SOC Platform project and UI screenshots supplied by the project owner. Demo records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714fdb0c844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944b1f0794211" /><Relationship Type="http://schemas.openxmlformats.org/officeDocument/2006/relationships/slideLayout" Target="/ppt/slideLayouts/slideLayout1.xml" Id="R075735e43ba241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5735e43ba241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13f4af6b94c21" /><Relationship Type="http://schemas.openxmlformats.org/officeDocument/2006/relationships/image" Target="/ppt/media/image.png" Id="R67cb6304eb7041d8" /><Relationship Type="http://schemas.openxmlformats.org/officeDocument/2006/relationships/notesSlide" Target="/ppt/notesSlides/notesSlide1.xml" Id="Rb9a15ffd32a446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e90ab08ed4c20" /><Relationship Type="http://schemas.openxmlformats.org/officeDocument/2006/relationships/notesSlide" Target="/ppt/notesSlides/notesSlide2.xml" Id="R0f60ce59895e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6ff6df38e4881" /><Relationship Type="http://schemas.openxmlformats.org/officeDocument/2006/relationships/notesSlide" Target="/ppt/notesSlides/notesSlide3.xml" Id="R65edc0c5273b4f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bba711a39484a" /><Relationship Type="http://schemas.openxmlformats.org/officeDocument/2006/relationships/notesSlide" Target="/ppt/notesSlides/notesSlide4.xml" Id="R2b33c69a56334d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54f22ebe5455f" /><Relationship Type="http://schemas.openxmlformats.org/officeDocument/2006/relationships/image" Target="/ppt/media/image2.png" Id="Ra512fe4ae9214578" /><Relationship Type="http://schemas.openxmlformats.org/officeDocument/2006/relationships/notesSlide" Target="/ppt/notesSlides/notesSlide5.xml" Id="R081f524fe87c4d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520d7fd354712" /><Relationship Type="http://schemas.openxmlformats.org/officeDocument/2006/relationships/image" Target="/ppt/media/image3.png" Id="R9bb7ae8e48b44cd2" /><Relationship Type="http://schemas.openxmlformats.org/officeDocument/2006/relationships/notesSlide" Target="/ppt/notesSlides/notesSlide6.xml" Id="Raa818790e44245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497355e9148de" /><Relationship Type="http://schemas.openxmlformats.org/officeDocument/2006/relationships/image" Target="/ppt/media/image4.png" Id="R886a8f76a785473c" /><Relationship Type="http://schemas.openxmlformats.org/officeDocument/2006/relationships/notesSlide" Target="/ppt/notesSlides/notesSlide7.xml" Id="Ra73e71961cb04f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c4478910d4766" /><Relationship Type="http://schemas.openxmlformats.org/officeDocument/2006/relationships/notesSlide" Target="/ppt/notesSlides/notesSlide8.xml" Id="Rd992cfd95d7a4d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dead1b1014282" /><Relationship Type="http://schemas.openxmlformats.org/officeDocument/2006/relationships/image" Target="/ppt/media/image5.png" Id="R7f752bb6bfab4730" /><Relationship Type="http://schemas.openxmlformats.org/officeDocument/2006/relationships/notesSlide" Target="/ppt/notesSlides/notesSlide9.xml" Id="Re7a2ce760f4643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f08197b0d4638" /><Relationship Type="http://schemas.openxmlformats.org/officeDocument/2006/relationships/notesSlide" Target="/ppt/notesSlides/notesSlide10.xml" Id="R9c62253973f541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c77c8c8f6415c" /><Relationship Type="http://schemas.openxmlformats.org/officeDocument/2006/relationships/image" Target="/ppt/media/image6.png" Id="R50046f4fd71d4283" /><Relationship Type="http://schemas.openxmlformats.org/officeDocument/2006/relationships/notesSlide" Target="/ppt/notesSlides/notesSlide11.xml" Id="Rba98edeb2c344e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ef910c6b94e81" /><Relationship Type="http://schemas.openxmlformats.org/officeDocument/2006/relationships/image" Target="/ppt/media/image7.png" Id="Rc7f2bb7175d24fce" /><Relationship Type="http://schemas.openxmlformats.org/officeDocument/2006/relationships/notesSlide" Target="/ppt/notesSlides/notesSlide12.xml" Id="R3ed492569da848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4266cbbdd412c" /><Relationship Type="http://schemas.openxmlformats.org/officeDocument/2006/relationships/notesSlide" Target="/ppt/notesSlides/notesSlide13.xml" Id="R1006eda51df84d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18c55afc74364" /><Relationship Type="http://schemas.openxmlformats.org/officeDocument/2006/relationships/image" Target="/ppt/media/image8.png" Id="R7fcd3f226cee4e70" /><Relationship Type="http://schemas.openxmlformats.org/officeDocument/2006/relationships/notesSlide" Target="/ppt/notesSlides/notesSlide14.xml" Id="R8d688baf33e04c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8a0d4a24345cc" /><Relationship Type="http://schemas.openxmlformats.org/officeDocument/2006/relationships/notesSlide" Target="/ppt/notesSlides/notesSlide15.xml" Id="R5e818c3824d1483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e24f732634c65" /><Relationship Type="http://schemas.openxmlformats.org/officeDocument/2006/relationships/notesSlide" Target="/ppt/notesSlides/notesSlide16.xml" Id="R3bd10be71b6940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03900-EDEA-475E-9835-85BCF66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FF"/>
          </a:solidFill>
          <a:ln xmlns:a="http://schemas.openxmlformats.org/drawingml/2006/main" w="0">
            <a:solidFill>
              <a:srgbClr val="4EA3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FC256-745B-4201-AA3D-BBB0BCA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41369-80D9-4E6A-B850-B16EBD40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Evidence-driven</a:t>
            </a:r>
          </a:p>
          <a:p xmlns:a="http://schemas.openxmlformats.org/drawingml/2006/main">
            <a:pPr algn="l">
              <a:def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security investigations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60DBB-21F2-4FE2-8516-78CF270A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From notable event to defensible closure with local AI, grounded SPL, and a durable evidence ledger.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EE7DD-A4DB-42CE-BF8B-75EC7A93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CFAA6-0672-4C25-94E7-96BF3F3B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LOCAL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82171-E60E-40CC-BCB9-B7ED13FB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FBF1C-2954-436D-98CC-806F31CC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386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AUDITABLE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BECE16-ADB1-437D-838A-F213C8E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81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DA8DB-D102-4AF1-8ED2-74DDB64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38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ANALYST-GUIDED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D98A9-8C60-410E-B989-3963752A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76275"/>
            <a:ext cx="5476875" cy="4924425"/>
          </a:xfrm>
          <a:prstGeom xmlns:a="http://schemas.openxmlformats.org/drawingml/2006/main" prst="roundRect">
            <a:avLst>
              <a:gd name="adj" fmla="val 2321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b6304eb7041d8"/>
          <a:srcRect xmlns:a="http://schemas.openxmlformats.org/drawingml/2006/main" l="20955" t="0" r="209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723900"/>
            <a:ext cx="5381625" cy="4829175"/>
          </a:xfrm>
          <a:prstGeom xmlns:a="http://schemas.openxmlformats.org/drawingml/2006/main" prst="roundRect">
            <a:avLst>
              <a:gd name="adj" fmla="val 1578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777B0-AC66-410B-B27F-E7CAEC58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Feature overview and demonstration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20BE2-0A9D-451C-BC6B-28F0656A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388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27795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F4D9F3-927E-4020-A00A-C624088A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PLATFORM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3CC5C-876D-4AB7-8DC2-4E2AB659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One workspace for the full investigation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1A356-9A3B-49D5-9598-513A1D75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application connects detection content, analyst evidence, local AI analysis, and structured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DAFBF-4D7F-463A-AE55-DC60ACD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DDF56-3791-42C0-9A2C-53602958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Notables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8F1C6-4997-42B6-A7C0-35214E7B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Cases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03394-EFD3-450E-98A1-F25A964B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799DA-5BCB-40D2-999A-BB895B62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85B42-C3D4-469D-A89A-C8482973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Rule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6A4E6-6D9E-4EE5-B2F1-408B35B0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Detection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95366-4991-4399-89C9-FEA136B2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6E2125-5F85-41AC-8924-7FF3C099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085B33-E35D-42C9-A65C-9D9E9CC4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AI analysis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0A507-695B-48C9-AEBA-FC735973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Ollama reasoning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198104-A222-41A1-8250-33F10517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6895D-20AD-45E9-9D80-DD85FDBA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A62CA-58B7-4541-B013-6F38D975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SPL follow-up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FF8E63-10B2-4272-A171-6BCEC14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Targeted searches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43D99-8113-4BCF-8321-15B133DC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B961F-9FE6-4755-B66D-5F2FE197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0E723-D90B-47E7-85E9-5F2F1CDC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Evidence ledger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FAFD7-C6EE-40FB-A3A9-D2787F28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Durable findings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7EE8A-5EC4-4EC4-BD6A-B40B8B11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62225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ECB23-3A9E-42AE-97AF-0E0DE9B3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1581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07A09-27FB-470E-A312-27FF2701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95525"/>
            <a:ext cx="1314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FD598-394A-45F3-BBE2-FB742DD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Defensible notes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E684E5-C207-46FE-87FC-9992979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Analyst control plane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D69B7-D2FA-45D6-86AE-18ADD32B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A3FF"/>
          </a:solidFill>
          <a:ln xmlns:a="http://schemas.openxmlformats.org/drawingml/2006/main" w="0">
            <a:solidFill>
              <a:srgbClr val="4EA3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40F0FC-F5A3-495A-B2A9-5F5C0D42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BD80C-7AE3-41C0-8E91-84530756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Editable SPL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DADBCC-B4F9-4208-9914-09598573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Tune searches before running them in Splunk.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E98AD5-C0F7-4FBE-BD08-66BA7A7B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06495D-7652-4EBF-B486-238571A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Explicit resolution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CB588D-FEAF-4A9D-A210-B2D4E75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Mark whether evidence resolves a specific inquiry.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0691FC-D541-4F8B-8FE0-98C61131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E692C8-AE24-4F54-B1F2-CE4763E1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Persistent case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A9ED4-ADE3-4E7F-BE4D-40BA86FF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Resume locally without restarting the investigation.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B211FD-56F4-48AF-8F21-52BF3C15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E9D94B-7027-4F36-BE5C-7AB6927A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82CC9A-FC97-497E-B7F2-4794EACB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80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33E3C1-58FF-49BA-B10B-0B9CB8DA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OPERATOR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159BD-5E03-4B36-8FA3-70077AB8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Progress forward, create new phases only when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DBF5E-3689-4D55-BD94-92D693B3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analyst never has to jump backward to reopen an old phase.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B52F5-E0D5-4A19-9EE7-E6C8FD30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38CD2-FE09-4B06-AF45-027DBA59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CB275-96EF-4632-A2E5-8265E9B6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14BF9-CD02-4B90-BF90-F08293B3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Collect case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C0B37-17A8-4300-82F1-80A1E5E8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7A73F-D6A6-49DD-9F64-3A6523FC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0ACE8-AA89-401B-9B5C-ABB0DF8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592D3-BED0-422A-9BEE-D2BEB9DD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F8AC5-C85E-474C-8B72-2A6305D7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Form hypothesis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7A92CA-961A-42EB-9EC9-3A12CE9D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8C8D4-8266-4D6C-92B5-649F3E3B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22342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01B71-4B45-4C15-B5C2-2F1596FB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FFBBC-3288-4240-B482-8E590B30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Follow-up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052205-08CE-4534-B295-FBAF8B47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Resolve inquiries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D8B9A-D159-4160-AD80-56828C26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0">
            <a:solidFill>
              <a:srgbClr val="A66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FB758-B571-4732-B75B-7CEE0152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31515-CB2E-414E-A49D-B66EA249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E72DE9-811B-4542-B8DD-9A8311F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Verdict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E4907-F9B4-457C-9712-27224D55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Evaluate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2329E-20EF-46F8-BD7F-49AF8967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E2809E-8E4D-4105-8BDD-4CFA2713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43125"/>
            <a:ext cx="180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602E9-9873-4024-8B09-FF17CE11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860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FE88A9-6123-48DD-9113-D5D7E996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7B12EB-D97F-46DB-B592-5409A0C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Generate notes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DE2198-8A14-4F97-9ABD-DC1A1596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3314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B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9932B-3D64-4923-8E45-92CA16C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Dynamic phase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7AE8BB-B792-44E3-937A-2FC8D15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8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If blockers remain, add Phase 3, Phase 4, or later rounds with only the searches still required.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DA3E01-A10A-498E-84DE-D3F9E5D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33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0">
            <a:solidFill>
              <a:srgbClr val="A66C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4C73C3-1E20-4ABE-9959-8E2684CD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86375"/>
            <a:ext cx="544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Resolved inquiries leave the active list but remain available for audit and additional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7AAD8-8224-41D9-A523-14510008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41D864-541E-47E0-A61A-6885D568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841B29-F0F2-4C43-997B-9FDEAFF0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3973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827811-B659-4326-9FF8-F5AA20E7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CASE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FA8BC-42C4-4888-B975-98918B52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Start with a case, rule, and evidence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0EF69-6BE4-4551-BEE5-B8E5B2E8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demonstration uses one synthetic PowerShell incident to exercise every workflow stage.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EA6FC-8AD6-4C45-B7AE-42929CF2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95522-143E-4251-99A2-166DB614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2A768-26EB-44AE-AFDF-ADFA8A0B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0E758-74B4-4DB0-9EB0-E4EA67EE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4D60B-9326-4784-B47A-3C8D9E13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38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WIN-APP-042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EBF65-BD6E-4399-804A-4982F738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5B952-58DB-41FF-94B7-9A7C8842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81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admin.jlee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1A140-C90F-4E39-BECC-3B111E4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2EAD9-AE78-4C04-875A-3CD85985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24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powershell.exe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0002C-FA02-44EF-A8F3-CACE2EAD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Parent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61E96-7017-4B11-9DD4-799D3E4F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67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svchost.exe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BD3B4-1C2D-435A-9BB4-D1CB6A01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A4CF9E-88BE-4C7C-A7CB-7DB24F15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SYNTHETIC TEST 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A8ABB-7EF1-4D13-ACA8-D792197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Designed to validate workflow behavior without exposing production telemetry.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60996-7765-45A0-8CB2-83B60C0A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Seed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1A894-37A7-4387-8C0F-AB94681C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69913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050B14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D6B701-31CC-4619-A0E9-9D16F3E5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662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2026-09-10 23:40:18  WIN-APP-042  admin.jlee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powershell.exe -NoP -NonI -W Hidden -Enc SQBFAFgA...</a:t>
            </a:r>
          </a:p>
          <a:p xmlns:a="http://schemas.openxmlformats.org/drawingml/2006/main">
            <a:pPr algn="l">
              <a:def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F5F8FC"/>
                </a:solidFill>
                <a:latin typeface="Courier New"/>
                <a:ea typeface="Courier New"/>
                <a:cs typeface="Courier New"/>
              </a:rPr>
              <a:t>ParentImage: C:\Windows\System32\svchost.exe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B164E-4E54-43CA-8192-6F9BBEC5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Initial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DDCB0-D1D0-4926-837B-D6D470C5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8D0C1C-28B4-4E13-A620-1385C578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00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What is the encoded payload’s purpose?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0E5E5-DF6B-4B96-A50E-53F7DE3B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D1CAA-F1AB-492F-BCF6-34D1DC96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1012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Is the PowerShell script known or unknown?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BF307-B55E-48CC-917E-3F2C06D5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387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DCB8F-D5DA-4992-BABB-F12489F5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101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Are there other suspicious executions on the host?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49192-FC87-4AE2-99EA-D3ECD715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C6C06B-E4D7-474E-A745-66168CC1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EBA011-D4E8-431D-B21C-A9BD3C56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80014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919DF-B198-4B23-8B96-7E25A783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3FEFD-971A-4661-849A-6A76B112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 AI assessment turns raw evidence into a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E4AD1-77E6-4648-AF1F-97659C57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Ollama analysis proposes a hypothesis, focused questions, investigative reasoning, and a preliminary verdict.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D9879-F332-43B1-995E-BC63E3FB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90487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2fe4ae9214578"/>
          <a:stretch xmlns:a="http://schemas.openxmlformats.org/drawingml/2006/main"/>
        </p:blipFill>
        <p:spPr>
          <a:xfrm xmlns:a="http://schemas.openxmlformats.org/drawingml/2006/main">
            <a:off x="609600" y="1676400"/>
            <a:ext cx="8953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8B622-A71D-4FAE-B30B-DF6A92E4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097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7BA47A-9974-4DD9-9BE2-80CEAE4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716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35s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13DEB-87E9-4C0D-A14B-3C65AEC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analysis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7E27C-9242-4126-B733-767F08D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670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16D0B-2AA0-4893-9328-BC1DDB9F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289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91092-D656-41D8-AD50-F565C883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861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90085-5051-4CCE-87EE-FA1437C1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24350"/>
            <a:ext cx="1714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5685D-EA31-48B6-BC70-D38AB9B7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86275"/>
            <a:ext cx="1447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78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9FEBC-27F9-4B91-BA52-CFFB3907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43475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open inquiries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D804F3-8C39-422B-AF2E-98CE5FAC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C3E53-21AE-4D2F-A713-511E7B68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79050-9C60-42C4-AB48-5BF5E1D9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998179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BE411-1496-4EEC-AC3F-648D6B1D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86935-C517-44AF-AA68-16C448B0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Grounded follow-up queries inherit the investigation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60005B-BE54-4A97-8377-BB09966B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Approved query cards target the exact questions that remain open and preserve previously saved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F5D86-A874-480D-A9E8-3CCE00E3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09725"/>
            <a:ext cx="110109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7ae8e48b44cd2"/>
          <a:srcRect xmlns:a="http://schemas.openxmlformats.org/drawingml/2006/main" l="0" t="20495" r="0" b="204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109156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8EBD2-597E-4C0D-9803-4A42B9F7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5CE70-BA13-4DFA-8559-060149A1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62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INHERITED HYPOTHESIS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F1934-87B1-4E4F-B396-BA520BC3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90550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38AEC-4F01-4963-BF17-87BEF5E5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96265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QUESTION TARGETS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A797D-940C-4AA5-A247-F6200CFD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9055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DE14F3-0022-4F38-80CC-8C575B3F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62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ALREADY 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A8225-ECBB-489D-80B3-E388CFD6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05500"/>
            <a:ext cx="14763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32C39-7CE2-44C1-8A20-CF711E65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962650"/>
            <a:ext cx="1285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AUDIT TRAIL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BDA55-0F74-4DDB-ABFD-755B5793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709A47-5AF0-4867-99FF-5D9680BD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560CB-8A1C-4DB2-8B1B-7AEDC80E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133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FF39F-0C33-4193-BE97-24CBCFC4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31101-020E-49C9-B98E-4D0EA945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Analysts can edit SPL and classify every 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84447-DE85-4AB2-BBBB-C8479F5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workflow records whether a search succeeded, whether it supports or refutes the hypothesis, and whether it resolves an inquiry.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ED805-DD88-4939-BCF3-CE6577A5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28775"/>
            <a:ext cx="11049000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a8f76a785473c"/>
          <a:stretch xmlns:a="http://schemas.openxmlformats.org/drawingml/2006/main"/>
        </p:blipFill>
        <p:spPr>
          <a:xfrm xmlns:a="http://schemas.openxmlformats.org/drawingml/2006/main">
            <a:off x="609600" y="1678990"/>
            <a:ext cx="10953750" cy="4281069"/>
          </a:xfrm>
          <a:prstGeom xmlns:a="http://schemas.openxmlformats.org/drawingml/2006/main" prst="roundRect">
            <a:avLst>
              <a:gd name="adj" fmla="val 17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32C9C-F8A1-4633-B95E-1EA4C4B3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EDIT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80063-39DE-479E-83C5-A9526F3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Adjust SPL before sending to Splunk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8A519-4C10-411E-A918-D12A6833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7CF88-E9A7-44B3-B06D-C0E8BFB2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Success, failure, supports, or refutes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27470-2CF3-434B-807E-4267095F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0388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160A1-B69F-41C3-B0EA-16B59B8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00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Close a named investigative inquiry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0F928-3F3D-477A-A0CA-043E391D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B7F12-F2E6-44C2-AF9C-5AF49D5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604D1-E31F-4422-9EC9-6410E03D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67102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9AE2F8-80D4-425E-8FD2-6997B0E7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DEMO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E2A05-7078-4379-B31A-E9A1B3A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Three targeted checks resolve the PowerShell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EC554-8E90-416A-910B-2CDBFC98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Each record below is synthetic and intentionally mapped to one investigation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5C76F-3AFA-47F7-96E2-CDE2C705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A75C8-EEC3-429A-B7B5-AEC0B899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AA7DB-5E54-4D30-A75B-86622F85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7D6FD-6A4B-49BE-8723-7DAFECDB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431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Decoded command uses Net.WebClient.DownloadString and IEX against</a:t>
            </a:r>
          </a:p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https://updates.corp.example/payload.ps1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3868D-B707-4938-9108-DC390F50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145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1FAD2-E71F-4C67-B6DD-4FA99712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1717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SUPPORTS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AF432-105F-420B-9332-AB84CEED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03BE6-1036-4396-B861-52D2DF20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69B0B-420D-49C8-A52B-DEC022A0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Recent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4EBA9-C7C9-48EE-A6DD-3180C29D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337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Maintenance script plus the encoded event. No additional suspicious</a:t>
            </a:r>
          </a:p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in-memory execution was identified in the review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85E3F-BA17-4DFF-B55F-F6A160EF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052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3CA29-BB0D-42B4-9C34-824C1E5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623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REFUTES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7A042-B78F-4E2E-93C6-B555D337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5375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0A3F5-C639-4D62-BD01-7DDCC579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73D97-9D98-484C-86E1-A2E85C4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Script 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DB2AE-399D-4CD7-9FC2-B66C5136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244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7f3a9c2e1b4d6a8f9c0e11223344556677889900 was absent from</a:t>
            </a:r>
          </a:p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AAB6C8"/>
                </a:solidFill>
                <a:latin typeface="Courier New"/>
                <a:ea typeface="Courier New"/>
                <a:cs typeface="Courier New"/>
              </a:rPr>
              <a:t>the authorized baseline and known-good catalog.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6C5B6-9DB5-4D2A-A321-8E34903A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958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77370-0811-4AC6-A95D-CBE0C819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530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6577"/>
                </a:solidFill>
                <a:latin typeface="Helvetica Neue"/>
                <a:ea typeface="Helvetica Neue"/>
                <a:cs typeface="Helvetica Neue"/>
              </a:rPr>
              <a:t>SUPPORTS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0E3DB-9588-4B1B-88CE-CE58D77E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89FD5-B289-4F63-8ACF-3A5DEF82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SYNTHETIC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53507-3562-4B55-9543-A9E8A4FE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1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these records to reproduce the demonstration without production telemetry.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61D00C-19FF-40D1-905B-68144332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C921E-10D3-44BA-A29C-04D4FE9F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9CE0F-33F3-451D-BA8E-B31DBB92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117309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519CE-21E1-4A05-9A13-AF53D27A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064C6-CC4F-4B87-B400-23250478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New investigation phases appear only when required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86EED-215F-4657-8AC4-AE780CA4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Closure blockers drive the next round. Completed phases stay preserved and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5EBB0-70ED-4244-9A0D-E7847EAD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5857875" cy="4667250"/>
          </a:xfrm>
          <a:prstGeom xmlns:a="http://schemas.openxmlformats.org/drawingml/2006/main" prst="roundRect">
            <a:avLst>
              <a:gd name="adj" fmla="val 2449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752bb6bfab4730"/>
          <a:srcRect xmlns:a="http://schemas.openxmlformats.org/drawingml/2006/main" l="7442" t="0" r="74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762625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DB8F5-92A2-4872-B0E0-B24860C2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37F8-9394-4B7D-A037-F90352B1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85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6D7D8-688F-4BF9-A915-34436C6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717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Broad follow-up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FBDF6-C3C1-4218-9894-6813227E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86075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7021E-ED8B-4A74-892E-C686D346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BF9CB-763B-46ED-8D08-DF4EB4E8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23674-2F02-4562-8B16-82E60F6D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55288-7F8A-4028-A1F4-A78926EC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24325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537F2-267B-4FF7-9166-5E8778BB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40957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42FC3-DE90-465C-AFD0-9B37D4AD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55C87-2613-4857-80A0-6BBCB22D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Remaining inquiries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8D8BF4-A08C-4D31-BAAC-2C269046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No forced restart. No duplicate collection.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4099F-738E-41B6-9B79-0E6345A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89255-EB7E-4E32-9756-4C69134C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9BFB4-31BC-4917-9348-B829A629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1719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C60AF-1C5A-4999-8191-20697760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16631-D520-4CA9-BFCB-17631290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Resolved inquiries leave the active queue without losing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395F3-3E36-4FAC-9C9D-A67DBCB6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interface stays clean while additional evidence remains possible.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CBA4D-4785-4F3C-BB4D-D22DB77F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190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9AE3B-49D2-4D23-8DCE-6D3738FE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71725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Active inquiry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7E2E0-2BCB-4390-8147-057830A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12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Visible in the current work queue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8FED5-0942-4EFD-BC8D-5C3E847D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FBB0D-930A-4716-B030-7731BFC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381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78E45-4468-4042-821E-516D9C6D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Resolve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17FE5D-833F-468C-A2AB-6E681ADA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Select the named inquiry when saving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4475E-FFEF-47CD-8EAF-F08E881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38B90-C01B-4F76-BEF4-F526C867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2286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F4D58-6B0E-4F48-A1D8-7B8F9E70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2019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Resolved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4F180E-7156-439B-BD32-AC096FAF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Hidden from active work and retained for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ED743-3876-4435-85C8-9EE90C0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38425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523D0-ACFC-474C-8DA2-B2E3920F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667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B91338-207E-44BB-BD39-73383D5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71725"/>
            <a:ext cx="2400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More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23682-B3BC-40E9-AD89-807AB848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479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Reopen a resolved item when more validation is needed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9CF24F-9016-4793-8479-7F728662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05250"/>
            <a:ext cx="86677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C0044-15BB-41BF-922C-A8328C65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Analyst experience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C15A7-D344-4577-8BA4-7F6FD368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577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Unresolved questions remain prominent. Resolved questions move to a collapsible section, keeping their evidence, status, source phase, and audit history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91E350-8889-4C57-8A1F-724A85FD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05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Outcome: less clutter with no loss of investigative traceability.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9F861-1A97-4AE3-875D-52F8A6AD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FB001-CB83-45E0-BB71-56C5F402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4DB259-2EB3-466A-9E24-0D38EF5B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25652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08D0D6-CD31-4962-9213-9C198AE7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5214E-061E-4C86-9073-1CCD7F8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durable evidence ledger preserves every investigation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599AE-FAD4-453A-82A7-3816861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Phase-specific sources make the timeline understandable and support returning to a case later.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FB3B0-380B-4730-BA68-08DAF129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28775"/>
            <a:ext cx="7048500" cy="4572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46f4fd71d4283"/>
          <a:srcRect xmlns:a="http://schemas.openxmlformats.org/drawingml/2006/main" l="0" t="6175" r="0" b="6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676400"/>
            <a:ext cx="69532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CCF17-61DB-4489-A667-762E54F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A3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4EA3FF"/>
                </a:solidFill>
                <a:latin typeface="Courier New"/>
                <a:ea typeface="Courier New"/>
                <a:cs typeface="Courier New"/>
              </a:rPr>
              <a:t>phase2_manual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DEF31-78E4-4872-BE00-3E19730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Initial follow-up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FCB3E-C807-4153-B64D-7E9E1CD0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F4F06-B0F0-4A31-B70B-3689CB6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6CFF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A66CFF"/>
                </a:solidFill>
                <a:latin typeface="Courier New"/>
                <a:ea typeface="Courier New"/>
                <a:cs typeface="Courier New"/>
              </a:rPr>
              <a:t>phase3_manual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C32287-CA5D-40DC-9092-EC5E4C28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Payload identification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1444A-160C-4A65-B69B-CD19C6F7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3E79D-52CA-4ADF-9A60-4B4DF4EF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547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FFB547"/>
                </a:solidFill>
                <a:latin typeface="Courier New"/>
                <a:ea typeface="Courier New"/>
                <a:cs typeface="Courier New"/>
              </a:rPr>
              <a:t>phase4_manual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3CB4B-A576-48E6-BB60-1DB94271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Final inquiry resolution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37DFE-AE7E-403F-8C2E-3E4C0DFC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6F52E-6B08-4892-9151-EE47C5B3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>
                <a:solidFill>
                  <a:srgbClr val="35E0C1"/>
                </a:solidFill>
                <a:latin typeface="Courier New"/>
                <a:ea typeface="Courier New"/>
                <a:cs typeface="Courier New"/>
              </a:rPr>
              <a:t>supportive_manual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2001D-A464-4995-83D4-6ED0D07A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Corroborating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EAEE5-F642-423D-A39A-EA5D33DC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C108A-3A4D-43E4-B313-3920477F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PostgreSQL keeps case state, evidence, phase analyses, and closure records available across restarts.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04833-09DC-4D51-912C-71F845B5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D4C185-3B71-4319-A1EF-3F664649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00994-7D9D-4308-A355-901A86B7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476983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7421D2-18C6-490E-ACCE-E84A8A32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9ED50-FF36-4379-975B-B871D7AC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readiness is evaluated with explicit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8F4E8-491A-4619-AAE7-E11F2D43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Confidence, corroboration, blockers, and unresolved questions remain visible before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EB3EB-1076-42F6-BB63-5B56F2B2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6D357-D03C-4239-A76C-78E49C53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6880B-2C52-49C0-86DA-9DEC5034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145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5C86D-8B22-4BE0-A6CC-A16BC7C9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BB8E5-4CB2-4174-8224-6A533E2A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E5FEC-8371-466A-9582-EEF74897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622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742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substantive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A0876-3C56-495C-9C96-FE4C0D49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B4DB3-87EC-418E-BF40-51DF8F88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B6CD5C-76FA-439E-ACDE-FE0DA205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100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235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active blockers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58C83-E148-4013-A597-4B266744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381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A0111-E64E-4087-B9CD-67B3714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09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B09DA-E62A-44F2-973F-1CD1B1BA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5777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619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open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05A52-F726-4062-864A-321DA944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9725"/>
            <a:ext cx="81915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f2bb7175d24fce"/>
          <a:srcRect xmlns:a="http://schemas.openxmlformats.org/drawingml/2006/main" l="0" t="6842" r="0" b="6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0" y="1657350"/>
            <a:ext cx="809625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B31CE-4A95-4FC4-BB2A-8E99973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5743B-FB6F-4958-A08F-2798E455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6C164E-C5D9-4F2E-9E66-0345765E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4141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FB24B6-4F5B-4FF8-81A6-6925495A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FEATURE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DD3EE-A7E4-42BC-9D7C-75E0FB5F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Structured closure notes connect the case to the correct rule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5D58-429B-4275-A745-D1528BFA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final step packages disposition, evidence, analyst reasoning, and rule context for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61FE9-559F-4464-B922-FFCB78B3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572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90E70-FCA2-4017-A9BA-402014D9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Closure note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409BA-AEFB-4AEC-922C-58B7D63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44287-F6E7-46F5-A0A6-801F675A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860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TEST-POWERSHELL-1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CCE28-8073-44BA-8A69-7019D225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A7F26-B55D-4C30-BA5A-436B384F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96C95-10AA-47E5-B5ED-CA372920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765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PowerShell In-Memory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E0CF5-BA97-4B45-A23C-FD6E83A6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691E8-0D11-4FC4-9994-EDF02BE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D37915-AC8E-4A27-B034-773FAFF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671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Malicious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2C583-0535-4A2E-93F1-6DC12CC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3FB6A-4E4A-4FBA-AB49-F5201D93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CONFIDENCE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FAB11-BFDD-4F09-9216-A34EC2CB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5767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F4702-2EE2-49C0-899B-0BBF94F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81525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01E7C-20EE-4687-9982-FF2C3004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ANALYST SUMMARY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D2CBE-6486-4DEB-B8C5-BA36E1FD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482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Encoded payload retrieved and executed unapproved content. Scope review found no additional suspicious executions.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BA6DB-A501-4A6F-96A6-AC565D3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What gets carried forward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A6A8F-833C-4135-9803-7DCF2E8D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57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373C02-157D-4AF2-AED3-8D0FA1DB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28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Selected detection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B5A3C-9534-42F2-B11C-136FCBAA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35979-EBF3-46BF-BDD6-A5BA96D4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813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Final disposition and confidence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12B82-E201-4E06-A1A4-87A6E4FC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623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9F9ED-E624-4217-BED2-57DD5622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Resolved inquiry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92FFD7-2E85-4287-B649-B66635D6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EC739-AE5D-4054-BE43-1BA96985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Supporting and refuting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7C8B3-19C6-44CB-95BD-86BA8971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672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57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2515EE-F8EC-4F50-AD22-39BC47A3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38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Structured analyst narrative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DEA903-AB4E-4E26-A81B-F4F860BA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81625"/>
            <a:ext cx="2952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E54AEB-392A-48E0-B47C-B230C755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38775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ANALYST-REVIEWED OUTPUT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68368F-8CF9-4B27-B200-A086C377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41FE29-110B-45E3-9FB2-E5861A90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F1ECD9-DF79-48D3-B5F5-5FAC4CF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98543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9CDF95-2D3F-4BEE-8323-ACA71476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59791-C5D4-4B10-9743-41238C51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Local-first architecture keeps data under operator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17D7-3E34-4227-BD30-67212B89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same workflow can be tested on Linux or macOS and brought back to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5D46B-B5F6-4919-8170-2A04E58D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809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70675-CEB8-4796-8F0D-E7FA3EE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Browser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F340F-7F3A-4E56-ACA5-BDBAC3D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Investigation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03241-7591-4071-B371-9FD339FE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F42E1-DAF0-4B07-969C-1F42DA07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14550"/>
            <a:ext cx="2000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A66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79D83-0172-4FEF-892F-27C3E6D3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2383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66CFF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5E0EE-36C9-4BFB-9454-A7D629FE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14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1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Workflow and persistence APIs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75C2D-2320-440D-957A-46833F25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FB38E-BC9F-4523-BF27-8952B30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04787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DCB4A-AE01-43AE-B50D-5839CB86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38375"/>
            <a:ext cx="1781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47AA9-DF42-44D0-8954-F08A966E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14600"/>
            <a:ext cx="1781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Cases, evidence, analyses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0441BC-8534-44CC-B4A3-828F908B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6FF6C-67BA-4432-B85D-AEFCC5F3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1905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6CADF-0F59-4FA9-A61F-83048E5F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38375"/>
            <a:ext cx="1638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Ollama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7174B-AE93-4E0D-AE1F-10CB4707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Local llama3.1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8C7E1-DEC3-48B5-9AA2-77D800E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05075"/>
            <a:ext cx="428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31D29-62AF-4CD7-8C87-8F1B8FEB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114550"/>
            <a:ext cx="1381125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E1A2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C4C7C-A729-4D1A-AE83-C5E1A3D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238375"/>
            <a:ext cx="1114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Splunk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1E713-D4E4-453A-9C3C-9E57AE75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14600"/>
            <a:ext cx="111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Analyst-run SPL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719C26-57A2-48F9-B1F3-53A28D73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Deployment choices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33B99-7C9F-4049-95A7-1363912B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Docker Compose for portable setup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21C5C7-5BCF-4F7C-B171-1074BCA4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762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Native API restart script for rapid local testing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7A991-1569-43D8-B048-7B56037B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Database dump and import workflow for coworker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C57DE7-005F-4A7A-AAF5-F0A2C000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24275"/>
            <a:ext cx="542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91525"/>
          </a:solidFill>
          <a:ln xmlns:a="http://schemas.openxmlformats.org/drawingml/2006/main" w="9525">
            <a:solidFill>
              <a:srgbClr val="4EA3FF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d3f226cee4e70"/>
          <a:stretch xmlns:a="http://schemas.openxmlformats.org/drawingml/2006/main"/>
        </p:blipFill>
        <p:spPr>
          <a:xfrm xmlns:a="http://schemas.openxmlformats.org/drawingml/2006/main">
            <a:off x="6191250" y="3776439"/>
            <a:ext cx="5334000" cy="771972"/>
          </a:xfrm>
          <a:prstGeom xmlns:a="http://schemas.openxmlformats.org/drawingml/2006/main" prst="roundRect">
            <a:avLst>
              <a:gd name="adj" fmla="val 9756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57C520-15E7-4400-AFF0-87E88062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5334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2940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10EA36-6FEB-4CF5-BFBE-85EDEC54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43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Secrets stay local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0A3784-5076-4D0E-B5FA-1B333D8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57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9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.env and .pgpass for seamless restarts. Database passwords and dumps remain outside Git.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497A0-53E1-4B01-A91A-6AB4CAA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7A6D96-842D-48F4-A9B9-60DBF8AF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BBCB47-2ADC-4C2C-B343-A689E3D2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892635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820438-E4F7-437D-ABE2-702992C1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DEMONSTRATION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B20AD-0076-4F64-AAB2-7CBE567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The test case moved from suspicion to closure-ready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9ACF9-CF47-4A18-A600-74A2EDAF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The workflow produced a measurable improvement in confidence and eliminated every investigation blocker.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DACAE-B0C9-4EC8-9016-3F67B547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09BE9-50F2-45D5-BD75-11CDA4D4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75%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F8A9A-B759-4FA1-A2AD-4CB24E6E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Initial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C4F4-2B5A-42A4-9DEA-7A7879C2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0FD58-8147-42EE-B935-44C61394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95%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1FF70-8E8F-43F5-BFBD-23138ABB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Final confidence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A68D4-C955-41FC-A4FB-535EC6A6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2C25D-2525-492F-9A05-5BB1E25E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B54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2035A-59F0-496E-8670-C7C2A26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Questions opened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E3E486-D909-41A1-897A-23D4F162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9E79D-893C-403C-8D0B-E944090C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2749A-57C4-4E55-8C9E-03018456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Questions remaining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60B4C-C185-45C9-832B-C500DF62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2625"/>
            <a:ext cx="1905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5E0C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BB3854-59E8-41B2-8D2B-40459494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336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3B0E4-F137-4FC6-8E5F-AACE9A31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Substantive findings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5C70A-DC09-482A-B12A-D5273FDE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DD363-B292-4755-97C9-6889E441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577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C9485-27EF-4CE7-962E-E7B4A84B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6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Suspicious encoded command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A7931-E148-4667-AD7F-79E2DAD3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6CFF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DCE9B-95AE-4B85-B4B0-3ACA2C7D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72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Targeted evidence collected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0E86F-89B4-4797-9E0D-EFDCB98D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E0C1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DBBF4-2914-4D25-A366-713ED91B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Scope narrowed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6080C-09D7-4FFD-A448-3FA1CD1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9B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FD2B8-49E5-4E7D-8D0E-42B2ABA9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Inquiries resolved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F455B-1AEA-439C-AD72-8015788D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99B"/>
          </a:solidFill>
          <a:ln xmlns:a="http://schemas.openxmlformats.org/drawingml/2006/main" w="28575">
            <a:solidFill>
              <a:srgbClr val="0711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ED4B98-D545-4ABB-94AD-1FC1BE6F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00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Closure 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8DF66-3526-4DE9-A0D1-2B136E0F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EA3FF"/>
                </a:solidFill>
                <a:latin typeface="Helvetica Neue"/>
                <a:ea typeface="Helvetica Neue"/>
                <a:cs typeface="Helvetica Neue"/>
              </a:rPr>
              <a:t>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999E89-F9B7-4BD1-8731-1B1290CF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malicious disposition supported by a transparent evidence trail, explicit analyst decisions, and reproducible search results.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43CF65-8FE4-4995-83A9-F3B5CF30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9ACAF7-0CC1-4132-B802-A21E1B68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493041-6F11-43E8-809C-3A6260EF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392251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AE7CC-374C-40E9-B7B3-0517B5A8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PRESENTATION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D9F92-3758-4017-9D59-040ACD7F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 concise live demo path for every major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7B20F-1BC2-4063-B77D-EE5074D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Use the sample PowerShell case to tell one continuous story from intake to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40D1A5-BF5F-4611-B4F7-D9669C00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16366-2A62-4567-BCF4-BCEA039B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85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Open the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19416-672D-401E-A72E-4610245D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Show notable details, rule context, and seed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6BCA8-89A9-484C-BC03-FE93A941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1E58D-1DC9-4337-B909-727B6D97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14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C64FF-1B3D-4BEC-9288-BD89ABF9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16859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Run initial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942A4-7022-4963-8114-585B2A5B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0574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Call out the hypothesis, three questions, and 75% verdict.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8599A-BE13-47BE-9148-DB215A3D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6289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6EE8F-8D5C-4682-AE0E-939995DE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BA581-4035-4223-B64D-9044DDEA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38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Collect follow-up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296C5-B0C4-4E38-B08F-7AD67FCB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Edit SPL, paste results, classify direction, resolve inquiries.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D5867-72A3-4E3D-B61B-C26B257A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814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1E0CF-651D-478C-82D3-3CD297B9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67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841F6-8912-442B-8B7C-AAB2A717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0384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Advance phases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AEE0AA-C90C-4E00-8E08-10E5BDF9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0995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Demonstrate automatic Phase 3 or Phase 4 creation only when blocked.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C4FA1-AA9B-4FD4-A087-02ED1F2E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8145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9CBDC-43AE-4E31-B08E-8FFEDA6B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E0C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5C459-6397-471D-897C-AE6534EC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Review the ledger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A3FE4-B351-40F8-AB0C-445A089E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Trace phase sources and saved observations across restarts.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870F96-0C74-40AD-ACE0-9E784965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D6A01-AA9B-4330-AA21-7915655A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419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CACF46-F2B0-46D9-9DC9-3EFCA898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91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5F8FC"/>
                </a:solidFill>
                <a:latin typeface="Helvetica Neue"/>
                <a:ea typeface="Helvetica Neue"/>
                <a:cs typeface="Helvetica Neue"/>
              </a:rPr>
              <a:t>Close the case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8C6122-3C93-474E-844B-C60F283D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762500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Verify 95%, zero blockers, select the rule, and generate closure notes.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03218-1688-445D-83C4-68D63EEE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3340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956231-909F-422D-80BF-D2D49E9B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952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1729"/>
          </a:solidFill>
          <a:ln xmlns:a="http://schemas.openxmlformats.org/drawingml/2006/main" w="9525">
            <a:solidFill>
              <a:srgbClr val="38D99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61C872-2756-46B6-86CF-CE9381A1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1762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8D99B"/>
                </a:solidFill>
                <a:latin typeface="Helvetica Neue"/>
                <a:ea typeface="Helvetica Neue"/>
                <a:cs typeface="Helvetica Neue"/>
              </a:rPr>
              <a:t>READY TO PRESENT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8B78AF-8939-419D-B20D-5B0A2650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9150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Repository: github.com/swinneyj/soc-plaform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006D4-C689-457D-BAD6-2A5E6559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5F"/>
          </a:solidFill>
          <a:ln xmlns:a="http://schemas.openxmlformats.org/drawingml/2006/main" w="0">
            <a:solidFill>
              <a:srgbClr val="2940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E6F983-61D9-48BC-A026-DE21D9EE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SOC PLATFORM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08C14-D423-43FA-8AF3-48F3503B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31647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2026-09-11T13:59:53.4530000Z</dcterms:created>
  <dcterms:modified xsi:type="dcterms:W3CDTF">2026-09-11T13:59:53.4530000Z</dcterms:modified>
</coreProperties>
</file>